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Inter SemiBold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Inter ExtraBold"/>
      <p:bold r:id="rId37"/>
      <p:boldItalic r:id="rId38"/>
    </p:embeddedFont>
    <p:embeddedFont>
      <p:font typeface="Inter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jTGXiX9ATsJBttawgsqLFUCzK4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.fntdata"/><Relationship Id="rId20" Type="http://schemas.openxmlformats.org/officeDocument/2006/relationships/slide" Target="slides/slide14.xml"/><Relationship Id="rId42" Type="http://schemas.openxmlformats.org/officeDocument/2006/relationships/font" Target="fonts/InterMedium-boldItalic.fntdata"/><Relationship Id="rId41" Type="http://schemas.openxmlformats.org/officeDocument/2006/relationships/font" Target="fonts/InterMedium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Inter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InterExtraBold-bold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Medium-regular.fntdata"/><Relationship Id="rId16" Type="http://schemas.openxmlformats.org/officeDocument/2006/relationships/slide" Target="slides/slide10.xml"/><Relationship Id="rId38" Type="http://schemas.openxmlformats.org/officeDocument/2006/relationships/font" Target="fonts/InterExtra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Buongiorno, sono Michele Sciarra e presento SoH Neural Tracker, un progetto sperimentale sulla stima dello State of Health, o SoH, di batterie agli ioni di litio tramite Deep Learning.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L'obiettivo è capire non solo se una rete neurale riesce a stimare il degrado, ma soprattutto </a:t>
            </a:r>
            <a:r>
              <a:rPr b="1" lang="it">
                <a:solidFill>
                  <a:schemeClr val="dk1"/>
                </a:solidFill>
              </a:rPr>
              <a:t>quando il Deep Learning è realmente utile e quando una soluzione molto più semplice è sufficiente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Vedremo il problema, i dati, la metodologia, i risultati delle tre domande di ricerca e infine i principali limiti e sviluppi futuri.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Partiamo dal problema che motiva il progetto: il degrado delle batterie e la difficoltà di misurarlo durante il normale utilizzo.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9b5de7d1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9b5de7d1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Con i cicli di utilizzo una batteria perde progressivamente capacità.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SoH rende questo degrado misurabile: può essere interpretato come il rapporto fra la capacità attuale e quella di riferimento a inizio vita.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problema pratico è che per conoscere direttamente la capacità devo effettuare una scarica completa in condizioni controllate. Questo è possibile in laboratorio, ma non è realistico per una batteria che sta lavorando all'interno di un veicolo o di un sistema di accumulo.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Da qui nasce la domanda del progetto: </a:t>
            </a:r>
            <a:r>
              <a:rPr b="1" lang="it">
                <a:solidFill>
                  <a:schemeClr val="dk1"/>
                </a:solidFill>
              </a:rPr>
              <a:t>possiamo stimare lo stato della batteria osservando soltanto il suo comportamento operativo?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9b5de7d18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f9b5de7d1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Ho formulato il problema come una regressione su serie temporali.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Ogni esempio contiene una finestra di </a:t>
            </a:r>
            <a:r>
              <a:rPr b="1" lang="it">
                <a:solidFill>
                  <a:schemeClr val="dk1"/>
                </a:solidFill>
              </a:rPr>
              <a:t>10 cicli consecutivi</a:t>
            </a:r>
            <a:r>
              <a:rPr lang="it">
                <a:solidFill>
                  <a:schemeClr val="dk1"/>
                </a:solidFill>
              </a:rPr>
              <a:t>, descritti da 10 variabili operative.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rete non predice direttamente il SoH, ma la sua variazione rispetto all'ultimo ciclo osservato. In questo modo la previsione finale si ottiene sommando la variazione prevista all'ultimo SoH disponibile.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Le domande sono tre: quale architettura funziona meglio, quali condizioni sono associate a un degrado più rapido e quanto i modelli sono robusti quando cambia il protocollo operativo.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rispondere a queste domande ho utilizzato il NASA Battery Aging Dataset.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La caratteristica importante è che non si tratta di una semplice tabella: sono serie temporali di cicli di carica e scarica, che devono essere prima trasformate in descrittori utilizzabili dai modelli.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b5de7d18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f9b5de7d18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Ho utilizzato dieci batterie del dataset NASA.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 ogni ciclo di scarica estraggo la capacità e diversi descrittori elettrici e termici.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riferimento del SoH è costruito utilizzando la mediana dei primi cinque cicli, evitando di utilizzare informazioni provenienti dal futuro.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Questo è importante perché voglio simulare una situazione di previsione reale: al momento della stima posso utilizzare soltanto ciò che è già stato osservato.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b5de7d18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f9b5de7d18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Un problema particolare riguarda B0042 e B0043, che cambiano protocollo dopo il quarantesimo ciclo.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Per questo non considero la cella come unica unità di analisi, ma la divido in </a:t>
            </a:r>
            <a:r>
              <a:rPr b="1" lang="it">
                <a:solidFill>
                  <a:schemeClr val="dk1"/>
                </a:solidFill>
              </a:rPr>
              <a:t>blocchi di protocollo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In totale ottengo 12 blocchi.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suddivisione training, validation e test viene fatta per blocco e non per singola finestra, così una stessa cella o una stessa sequenza non può finire contemporaneamente nell'addestramento e nella valutazione.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test OOD contiene inoltre condizioni più calde e più fredde rispetto all'addestramento.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Passiamo ora alla metodologia: vediamo come dai dati grezzi arrivo alle sequenze utilizzate dai modelli e come è stato costruito il confronto sperimentale.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9b5de7d18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f9b5de7d18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Ho riferito i descrittori all'inizio vita della singola cella, così da ridurre la dipendenza dalle differenze assolute fra celle e protocolli.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Inoltre ho escluso dagli ingressi i parametri direttamente impostati dal protocollo, come temperatura ambiente e corrente, perché nel training assumono valori troppo specifici e non permetterebbero al modello di imparare correttamente un cambiamento di protocollo.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Il risultato finale è quindi una sequenza di dieci cicli consecutivi, senza attraversare cambi di protocollo o cicli non validi.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9b5de7d18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f9b5de7d18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Ho confrontato quattro architetture: MLP, SimpleRNN, LSTM e GRU.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Come riferimento ho utilizzato anche due baseline: la persistenza, che ripete l'ultimo SoH osservato, e una retta stimata sui dieci valori della finestra.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Questo è particolarmente importante perché il SoH cambia molto lentamente: quindi la persistenza è già una previsione molto forte.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Ogni rete è stata addestrata </a:t>
            </a:r>
            <a:r>
              <a:rPr b="1" lang="it">
                <a:solidFill>
                  <a:schemeClr val="dk1"/>
                </a:solidFill>
              </a:rPr>
              <a:t>10 volte con inizializzazioni diverse</a:t>
            </a:r>
            <a:r>
              <a:rPr lang="it">
                <a:solidFill>
                  <a:schemeClr val="dk1"/>
                </a:solidFill>
              </a:rPr>
              <a:t>. Riporto mediana e intervallo interquartile e confronto le ripetizioni appaiate, evitando di basare le conclusioni su una singola esecuzione fortunata.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Vediamo ora cosa emerge dagli esperimenti, seguendo le tre domande di ricerca.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9b5de7d18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f9b5de7d18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risposta alla prima domanda è controintuitiva: </a:t>
            </a:r>
            <a:r>
              <a:rPr b="1" lang="it">
                <a:solidFill>
                  <a:schemeClr val="dk1"/>
                </a:solidFill>
              </a:rPr>
              <a:t>nessuna architettura neurale supera la persistenza a un ciclo di distanza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persistenza ottiene RMSE 0,0110, mentre il migliore fra i modelli è il SimpleRNN con 0,0268.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Inoltre, il test appaiato non distingue significativamente SimpleRNN, GRU e LSTM.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Quindi non posso dichiarare un vincitore fra le tre architetture ricorrenti.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L'ablazione conferma anche che il SoH passato contiene una parte fondamentale dell'informazione: rimuoverlo aumenta l'errore di circa il 145%.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A questo punto la domanda diventa: </a:t>
            </a:r>
            <a:r>
              <a:rPr b="1" lang="it">
                <a:solidFill>
                  <a:schemeClr val="dk1"/>
                </a:solidFill>
              </a:rPr>
              <a:t>perché una rete più complessa non riesce a sfruttare meglio la sequenza?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9b5de7d18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f9b5de7d18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Prima di rispondere, guardiamo la robustezza fuori distribuzione.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 c'è un punto metodologico importante: l'RMSE grezzo può ingannare, perché il test OOD è più facile e anche la persistenza migliora.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Per questo confronto i modelli tramite skill score rispetto alla baseline dello stesso insieme.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risultato è interessante: il SimpleRNN rimane positivo sia dentro che fuori distribuzione, mentre i modelli più complessi, soprattutto l'MLP, mostrano una forte fragilità.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Quindi, in questo dataset, </a:t>
            </a:r>
            <a:r>
              <a:rPr b="1" lang="it">
                <a:solidFill>
                  <a:schemeClr val="dk1"/>
                </a:solidFill>
              </a:rPr>
              <a:t>più capacità non significa automaticamente maggiore robustezza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9b5de7d18_0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f9b5de7d18_0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seconda domanda è più delicata: una variabile può essere associata al degrado senza essere una causa del degrado.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Per questo non utilizzo un solo test.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Per i fattori che cambiano fra protocolli considero il blocco come unità di analisi; per le variabili che cambiano dentro il blocco utilizzo invece analisi condizionale, permutation importance e direzione temporale.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L'obiettivo è distinguere ciò che </a:t>
            </a:r>
            <a:r>
              <a:rPr b="1" lang="it">
                <a:solidFill>
                  <a:schemeClr val="dk1"/>
                </a:solidFill>
              </a:rPr>
              <a:t>precede il degrado</a:t>
            </a:r>
            <a:r>
              <a:rPr lang="it">
                <a:solidFill>
                  <a:schemeClr val="dk1"/>
                </a:solidFill>
              </a:rPr>
              <a:t> da ciò che semplicemente </a:t>
            </a:r>
            <a:r>
              <a:rPr b="1" lang="it">
                <a:solidFill>
                  <a:schemeClr val="dk1"/>
                </a:solidFill>
              </a:rPr>
              <a:t>lo riflette dopo che è già avvenuto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9b5de7d18_0_2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f9b5de7d18_0_2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Questo esperimento spiega il risultato della D1.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A un ciclo di distanza il rapporto fra segnale e rumore è soltanto </a:t>
            </a:r>
            <a:r>
              <a:rPr b="1" lang="it">
                <a:solidFill>
                  <a:schemeClr val="dk1"/>
                </a:solidFill>
              </a:rPr>
              <a:t>0,22</a:t>
            </a:r>
            <a:r>
              <a:rPr lang="it">
                <a:solidFill>
                  <a:schemeClr val="dk1"/>
                </a:solidFill>
              </a:rPr>
              <a:t>: la variazione che voglio prevedere è quindi molto più piccola del rumore di misura.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A dieci cicli il rapporto arriva circa a uno e successivamente cresce ancora.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Nello stesso punto il GRU inizia a superare la persistenza sul test in distribuzione.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Quindi la conclusione è che </a:t>
            </a:r>
            <a:r>
              <a:rPr b="1" lang="it">
                <a:solidFill>
                  <a:schemeClr val="dk1"/>
                </a:solidFill>
              </a:rPr>
              <a:t>il limite a un ciclo non è principalmente l'architettura: è l'informazione disponibile nel bersaglio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9b5de7d18_0_2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9b5de7d18_0_2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Ho verificato anche se il problema fosse semplicemente la quantità di dati.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Aggiungendo blocchi con lo stesso protocollo le prestazioni migliorano, ma oltre un certo punto il vantaggio si stabilizza.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Quando introduco invece protocolli molto eterogenei, l'addestramento può diventare instabile.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Ho inoltre confrontato una rete ricorrente con un piccolo Transformer. Con sei blocchi il Transformer raggiunge un errore dello stesso ordine del GRU, pur utilizzando meno parametri.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Quindi il risultato suggerisce che, con questa quantità di dati, </a:t>
            </a:r>
            <a:r>
              <a:rPr b="1" lang="it">
                <a:solidFill>
                  <a:schemeClr val="dk1"/>
                </a:solidFill>
              </a:rPr>
              <a:t>cambiare architettura da solo non risolve il problema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9b5de7d18_0_2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f9b5de7d18_0_2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Ho poi provato a portare la previsione verso una decisione concreta: stimare fra quanti cicli la batteria scenderà sotto una soglia di SoH dell'80%.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L'errore è elevato: circa 17 cicli su 15 cicli residui nel test considerato.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Ma la scomposizione dell'errore è interessante: anche conoscendo il vero SoH, il metodo di estrapolazione introduce già circa 15 cicli di errore.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Quindi il principale collo di bottiglia non è il modello neurale, ma </a:t>
            </a:r>
            <a:r>
              <a:rPr b="1" lang="it">
                <a:solidFill>
                  <a:schemeClr val="dk1"/>
                </a:solidFill>
              </a:rPr>
              <a:t>l'ipotesi con cui proiettiamo la traiettoria nel futuro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9b5de7d18_0_2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g3f9b5de7d18_0_2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Arriviamo al risultato che considero più interessante dal punto di vista applicativo.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Nella pipeline principale utilizzo il SoH passato, ma in una batteria reale la capacità non è sempre direttamente misurabile.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Ho quindi eliminato sia capacità sia SoH passato e utilizzato soltanto otto indicatori della curva di ricarica.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modello raggiunge uno skill score di circa </a:t>
            </a:r>
            <a:r>
              <a:rPr b="1" lang="it">
                <a:solidFill>
                  <a:schemeClr val="dk1"/>
                </a:solidFill>
              </a:rPr>
              <a:t>0,84 in distribuzione e 0,87 fuori distribuzione</a:t>
            </a:r>
            <a:r>
              <a:rPr lang="it">
                <a:solidFill>
                  <a:schemeClr val="dk1"/>
                </a:solidFill>
              </a:rPr>
              <a:t> rispetto alla media di training.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Questo dimostra che la ricarica contiene un segnale sufficiente per stimare lo stato della batteria senza effettuare una scarica completa.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È anche la direzione applicativa che ritengo più interessante per sviluppare il progetto.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/>
              <a:t>Riassumiamo quindi i risultati principali delle tre domande e i limiti che dobbiamo tenere presenti.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f9b5de7d18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f9b5de7d18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prima conclusione è che, a un passo, nessuna rete supera la persistenza e le tre architetture ricorrenti non risultano significativamente distinguibili.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seconda è che le variabili più associate al degrado non possono essere automaticamente interpretate come cause: i test temporali mostrano che molte sono conseguenze dello stato già raggiunto.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terza è che la robustezza dipende dalla complessità del modello e dal protocollo, e che i risultati OOD devono essere confrontati rispetto a una baseline adeguata.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Quindi il contributo del progetto non è trovare una rete che vince sempre, ma </a:t>
            </a:r>
            <a:r>
              <a:rPr b="1" lang="it">
                <a:solidFill>
                  <a:schemeClr val="dk1"/>
                </a:solidFill>
              </a:rPr>
              <a:t>capire in quali condizioni il Deep Learning porta realmente informazione aggiuntiva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9b5de7d18_0_2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3f9b5de7d18_0_2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Ci sono quattro limiti principali.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primo è la dimensione ridotta del training, con 316 finestre provenienti da due blocchi.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secondo è che a un ciclo il problema è fortemente dominato dal rumore.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terzo è che temperatura e corrente cambiano insieme nel dataset, quindi non posso separarne gli effetti.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Infine, D2 è uno studio osservazionale: posso identificare associazioni e direzioni temporali, ma non dimostrare causalità.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La direzione che considero più promettente è quindi combinare più dati, orizzonti di previsione più utili e soprattutto </a:t>
            </a:r>
            <a:r>
              <a:rPr b="1" lang="it">
                <a:solidFill>
                  <a:schemeClr val="dk1"/>
                </a:solidFill>
              </a:rPr>
              <a:t>stima del SoH dalla sola ricarica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Concludo quindi con il messaggio principale del progetto.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>
                <a:solidFill>
                  <a:schemeClr val="dk1"/>
                </a:solidFill>
              </a:rPr>
              <a:t>A un ciclo la persistenza è difficile da battere perché il segnale è troppo piccolo rispetto al rumore.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Quando l'orizzonte aumenta, oppure quando il SoH non è direttamente misurabile e utilizziamo la firma della ricarica, il Deep Learning diventa molto più interessante.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Il risultato principale, quindi, non è semplicemente quale modello ottiene l'errore minore, ma capire </a:t>
            </a:r>
            <a:r>
              <a:rPr b="1" lang="it">
                <a:solidFill>
                  <a:schemeClr val="dk1"/>
                </a:solidFill>
              </a:rPr>
              <a:t>dove il modello aggiunge realmente informazione e dove una soluzione più semplice è già sufficiente</a:t>
            </a:r>
            <a:r>
              <a:rPr lang="it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Grazie per l'attenzione.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/>
          <p:nvPr/>
        </p:nvSpPr>
        <p:spPr>
          <a:xfrm>
            <a:off x="5715375" y="0"/>
            <a:ext cx="4568400" cy="5143500"/>
          </a:xfrm>
          <a:prstGeom prst="parallelogram">
            <a:avLst>
              <a:gd fmla="val 25000" name="adj"/>
            </a:avLst>
          </a:prstGeom>
          <a:solidFill>
            <a:srgbClr val="2D3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1"/>
          <p:cNvSpPr txBox="1"/>
          <p:nvPr/>
        </p:nvSpPr>
        <p:spPr>
          <a:xfrm>
            <a:off x="510450" y="1634800"/>
            <a:ext cx="49290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" sz="2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1" i="0" sz="2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1"/>
          <p:cNvSpPr txBox="1"/>
          <p:nvPr/>
        </p:nvSpPr>
        <p:spPr>
          <a:xfrm>
            <a:off x="510450" y="1155100"/>
            <a:ext cx="5890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i="0" sz="1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1"/>
          <p:cNvSpPr txBox="1"/>
          <p:nvPr/>
        </p:nvSpPr>
        <p:spPr>
          <a:xfrm>
            <a:off x="510450" y="2235725"/>
            <a:ext cx="4929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" sz="2000" u="none" cap="none" strike="noStrike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i="0" sz="2000" u="none" cap="none" strike="noStrike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21" title="logo long BI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55671" y="4236945"/>
            <a:ext cx="2676478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1"/>
          <p:cNvSpPr txBox="1"/>
          <p:nvPr/>
        </p:nvSpPr>
        <p:spPr>
          <a:xfrm>
            <a:off x="1743000" y="3238041"/>
            <a:ext cx="3590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i="0" sz="15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1"/>
          <p:cNvSpPr txBox="1"/>
          <p:nvPr/>
        </p:nvSpPr>
        <p:spPr>
          <a:xfrm>
            <a:off x="1743000" y="3546181"/>
            <a:ext cx="3590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i="0" sz="15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 1">
  <p:cSld name="TITLE_1_1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5715375" y="0"/>
            <a:ext cx="4568400" cy="5143500"/>
          </a:xfrm>
          <a:prstGeom prst="parallelogram">
            <a:avLst>
              <a:gd fmla="val 25000" name="adj"/>
            </a:avLst>
          </a:prstGeom>
          <a:solidFill>
            <a:srgbClr val="2D3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22" title="logo long BI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55671" y="4236945"/>
            <a:ext cx="2676478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2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4189a57f6_17_0)">
  <p:cSld name="Generated (g3f4189a57f6_17_0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311700" y="671725"/>
            <a:ext cx="849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" type="body"/>
          </p:nvPr>
        </p:nvSpPr>
        <p:spPr>
          <a:xfrm>
            <a:off x="328725" y="1334375"/>
            <a:ext cx="8479800" cy="3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800"/>
              <a:buFont typeface="Calibri"/>
              <a:buChar char="●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○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■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●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○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■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●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○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■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5" name="Google Shape;25;p24" title="logo compatto BLU.png"/>
          <p:cNvPicPr preferRelativeResize="0"/>
          <p:nvPr/>
        </p:nvPicPr>
        <p:blipFill rotWithShape="1">
          <a:blip r:embed="rId2">
            <a:alphaModFix/>
          </a:blip>
          <a:srcRect b="0" l="0" r="1932" t="0"/>
          <a:stretch/>
        </p:blipFill>
        <p:spPr>
          <a:xfrm>
            <a:off x="357801" y="25875"/>
            <a:ext cx="1207725" cy="44345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4"/>
          <p:cNvSpPr txBox="1"/>
          <p:nvPr>
            <p:ph idx="2" type="subTitle"/>
          </p:nvPr>
        </p:nvSpPr>
        <p:spPr>
          <a:xfrm>
            <a:off x="328625" y="471475"/>
            <a:ext cx="8479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200"/>
              <a:buFont typeface="Calibri"/>
              <a:buNone/>
              <a:defRPr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24"/>
          <p:cNvSpPr txBox="1"/>
          <p:nvPr/>
        </p:nvSpPr>
        <p:spPr>
          <a:xfrm>
            <a:off x="357800" y="4792725"/>
            <a:ext cx="1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4"/>
          <p:cNvSpPr txBox="1"/>
          <p:nvPr/>
        </p:nvSpPr>
        <p:spPr>
          <a:xfrm>
            <a:off x="3043350" y="4792725"/>
            <a:ext cx="30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4"/>
          <p:cNvSpPr txBox="1"/>
          <p:nvPr/>
        </p:nvSpPr>
        <p:spPr>
          <a:xfrm>
            <a:off x="7836325" y="4792725"/>
            <a:ext cx="103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499328" y="4815225"/>
            <a:ext cx="376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" name="Google Shape;31;p24"/>
          <p:cNvSpPr txBox="1"/>
          <p:nvPr/>
        </p:nvSpPr>
        <p:spPr>
          <a:xfrm>
            <a:off x="1622752" y="-5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zato 1">
  <p:cSld name="CUSTOM">
    <p:bg>
      <p:bgPr>
        <a:solidFill>
          <a:srgbClr val="15335B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5" title="logo vert BI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0454" y="77275"/>
            <a:ext cx="523275" cy="824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5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f9b5de7d18_0_2748"/>
          <p:cNvSpPr/>
          <p:nvPr/>
        </p:nvSpPr>
        <p:spPr>
          <a:xfrm>
            <a:off x="5715375" y="0"/>
            <a:ext cx="4568400" cy="5143500"/>
          </a:xfrm>
          <a:prstGeom prst="parallelogram">
            <a:avLst>
              <a:gd fmla="val 25000" name="adj"/>
            </a:avLst>
          </a:prstGeom>
          <a:solidFill>
            <a:srgbClr val="2D3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f9b5de7d18_0_2748"/>
          <p:cNvSpPr txBox="1"/>
          <p:nvPr/>
        </p:nvSpPr>
        <p:spPr>
          <a:xfrm>
            <a:off x="510450" y="1634800"/>
            <a:ext cx="49290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it" sz="2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1" i="0" sz="2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f9b5de7d18_0_2748"/>
          <p:cNvSpPr txBox="1"/>
          <p:nvPr/>
        </p:nvSpPr>
        <p:spPr>
          <a:xfrm>
            <a:off x="510450" y="1155100"/>
            <a:ext cx="58908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i="0" sz="1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9b5de7d18_0_2748"/>
          <p:cNvSpPr txBox="1"/>
          <p:nvPr/>
        </p:nvSpPr>
        <p:spPr>
          <a:xfrm>
            <a:off x="510450" y="2235725"/>
            <a:ext cx="49290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t" sz="2000" u="none" cap="none" strike="noStrike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i="0" sz="2000" u="none" cap="none" strike="noStrike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g3f9b5de7d18_0_2748" title="logo long BI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55671" y="4236945"/>
            <a:ext cx="2676478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f9b5de7d18_0_2748"/>
          <p:cNvSpPr txBox="1"/>
          <p:nvPr/>
        </p:nvSpPr>
        <p:spPr>
          <a:xfrm>
            <a:off x="1743000" y="3238041"/>
            <a:ext cx="3590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i="0" sz="15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f9b5de7d18_0_2748"/>
          <p:cNvSpPr txBox="1"/>
          <p:nvPr/>
        </p:nvSpPr>
        <p:spPr>
          <a:xfrm>
            <a:off x="1743000" y="3546181"/>
            <a:ext cx="35901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i="0" sz="15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 1">
  <p:cSld name="TITLE_1_1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9b5de7d18_0_2756"/>
          <p:cNvSpPr/>
          <p:nvPr/>
        </p:nvSpPr>
        <p:spPr>
          <a:xfrm>
            <a:off x="5715375" y="0"/>
            <a:ext cx="4568400" cy="5143500"/>
          </a:xfrm>
          <a:prstGeom prst="parallelogram">
            <a:avLst>
              <a:gd fmla="val 25000" name="adj"/>
            </a:avLst>
          </a:prstGeom>
          <a:solidFill>
            <a:srgbClr val="2D3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g3f9b5de7d18_0_2756" title="logo long BI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55671" y="4236945"/>
            <a:ext cx="2676478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f9b5de7d18_0_2756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335B"/>
              </a:buClr>
              <a:buSzPts val="2800"/>
              <a:buFont typeface="Calibri"/>
              <a:buNone/>
              <a:defRPr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4189a57f6_17_0)">
  <p:cSld name="Generated (g3f4189a57f6_17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9b5de7d18_0_2761"/>
          <p:cNvSpPr txBox="1"/>
          <p:nvPr>
            <p:ph type="title"/>
          </p:nvPr>
        </p:nvSpPr>
        <p:spPr>
          <a:xfrm>
            <a:off x="311700" y="671725"/>
            <a:ext cx="849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2800"/>
              <a:buFont typeface="Calibri"/>
              <a:buNone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g3f9b5de7d18_0_2761"/>
          <p:cNvSpPr txBox="1"/>
          <p:nvPr>
            <p:ph idx="1" type="body"/>
          </p:nvPr>
        </p:nvSpPr>
        <p:spPr>
          <a:xfrm>
            <a:off x="328725" y="1334375"/>
            <a:ext cx="8479800" cy="3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800"/>
              <a:buFont typeface="Calibri"/>
              <a:buChar char="●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○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■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●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○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■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●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○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400"/>
              <a:buFont typeface="Calibri"/>
              <a:buChar char="■"/>
              <a:defRPr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5" name="Google Shape;55;g3f9b5de7d18_0_2761" title="logo compatto BLU.png"/>
          <p:cNvPicPr preferRelativeResize="0"/>
          <p:nvPr/>
        </p:nvPicPr>
        <p:blipFill rotWithShape="1">
          <a:blip r:embed="rId2">
            <a:alphaModFix/>
          </a:blip>
          <a:srcRect b="0" l="0" r="1932" t="0"/>
          <a:stretch/>
        </p:blipFill>
        <p:spPr>
          <a:xfrm>
            <a:off x="357801" y="25875"/>
            <a:ext cx="1207725" cy="44345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f9b5de7d18_0_2761"/>
          <p:cNvSpPr txBox="1"/>
          <p:nvPr>
            <p:ph idx="2" type="subTitle"/>
          </p:nvPr>
        </p:nvSpPr>
        <p:spPr>
          <a:xfrm>
            <a:off x="328625" y="471475"/>
            <a:ext cx="84798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D6A"/>
              </a:buClr>
              <a:buSzPts val="1200"/>
              <a:buFont typeface="Calibri"/>
              <a:buNone/>
              <a:defRPr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3f9b5de7d18_0_2761"/>
          <p:cNvSpPr txBox="1"/>
          <p:nvPr/>
        </p:nvSpPr>
        <p:spPr>
          <a:xfrm>
            <a:off x="357800" y="4792725"/>
            <a:ext cx="1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9b5de7d18_0_2761"/>
          <p:cNvSpPr txBox="1"/>
          <p:nvPr/>
        </p:nvSpPr>
        <p:spPr>
          <a:xfrm>
            <a:off x="3043350" y="4792725"/>
            <a:ext cx="30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9b5de7d18_0_2761"/>
          <p:cNvSpPr txBox="1"/>
          <p:nvPr/>
        </p:nvSpPr>
        <p:spPr>
          <a:xfrm>
            <a:off x="7836325" y="4792725"/>
            <a:ext cx="103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9b5de7d18_0_2761"/>
          <p:cNvSpPr txBox="1"/>
          <p:nvPr>
            <p:ph idx="12" type="sldNum"/>
          </p:nvPr>
        </p:nvSpPr>
        <p:spPr>
          <a:xfrm>
            <a:off x="8499328" y="4815225"/>
            <a:ext cx="3768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1" name="Google Shape;61;g3f9b5de7d18_0_2761"/>
          <p:cNvSpPr txBox="1"/>
          <p:nvPr/>
        </p:nvSpPr>
        <p:spPr>
          <a:xfrm>
            <a:off x="1622752" y="-5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zato 1">
  <p:cSld name="CUSTOM">
    <p:bg>
      <p:bgPr>
        <a:solidFill>
          <a:srgbClr val="15335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f9b5de7d18_0_2771" title="logo vert BIANC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0454" y="77275"/>
            <a:ext cx="523275" cy="82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f9b5de7d18_0_2771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9b5de7d18_0_27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g3f9b5de7d18_0_27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3f9b5de7d18_0_27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9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Relationship Id="rId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idx="4294967295" type="subTitle"/>
          </p:nvPr>
        </p:nvSpPr>
        <p:spPr>
          <a:xfrm>
            <a:off x="1736075" y="3781375"/>
            <a:ext cx="3388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rPr b="1" i="0" lang="it" sz="15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Michele Sciarra </a:t>
            </a:r>
            <a:r>
              <a:rPr b="1" i="0" lang="it" sz="19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it" sz="20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it" sz="14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matricola</a:t>
            </a:r>
            <a:r>
              <a:rPr b="0" i="0" lang="it" sz="14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it" sz="11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60/79/00289</a:t>
            </a:r>
            <a:endParaRPr b="1" i="0" sz="465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>
            <p:ph idx="4294967295" type="subTitle"/>
          </p:nvPr>
        </p:nvSpPr>
        <p:spPr>
          <a:xfrm>
            <a:off x="1835950" y="2626825"/>
            <a:ext cx="3388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rPr b="1" i="0" lang="it" sz="20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SoH Neural Tracker</a:t>
            </a:r>
            <a:endParaRPr b="1" i="0" sz="1365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18"/>
              <a:buFont typeface="Arial"/>
              <a:buNone/>
            </a:pPr>
            <a:r>
              <a:rPr b="1" i="0" lang="it" sz="1365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Stima dello State of Health di batterie Li-ion </a:t>
            </a:r>
            <a:endParaRPr b="1" i="0" sz="1365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" title="ChatGPT Image 8 lug 2026, 10_48_5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775" y="2626825"/>
            <a:ext cx="1425300" cy="1425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Scenario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b5de7d18_0_1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g3f9b5de7d18_0_142"/>
          <p:cNvPicPr preferRelativeResize="0"/>
          <p:nvPr/>
        </p:nvPicPr>
        <p:blipFill rotWithShape="1">
          <a:blip r:embed="rId3">
            <a:alphaModFix/>
          </a:blip>
          <a:srcRect b="60" l="0" r="0" t="70"/>
          <a:stretch/>
        </p:blipFill>
        <p:spPr>
          <a:xfrm>
            <a:off x="357188" y="25718"/>
            <a:ext cx="1207800" cy="43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3f9b5de7d18_0_142"/>
          <p:cNvSpPr txBox="1"/>
          <p:nvPr/>
        </p:nvSpPr>
        <p:spPr>
          <a:xfrm>
            <a:off x="1619250" y="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9b5de7d18_0_142"/>
          <p:cNvSpPr txBox="1"/>
          <p:nvPr/>
        </p:nvSpPr>
        <p:spPr>
          <a:xfrm>
            <a:off x="333375" y="466725"/>
            <a:ext cx="8477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11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Scenario</a:t>
            </a:r>
            <a:endParaRPr b="0" sz="111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f9b5de7d18_0_142"/>
          <p:cNvSpPr txBox="1"/>
          <p:nvPr/>
        </p:nvSpPr>
        <p:spPr>
          <a:xfrm>
            <a:off x="333375" y="809625"/>
            <a:ext cx="847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Il degrado delle celle e il suo indicatore</a:t>
            </a:r>
            <a:endParaRPr b="1" sz="24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g3f9b5de7d18_0_142"/>
          <p:cNvGrpSpPr/>
          <p:nvPr/>
        </p:nvGrpSpPr>
        <p:grpSpPr>
          <a:xfrm>
            <a:off x="333375" y="1381125"/>
            <a:ext cx="4095900" cy="857400"/>
            <a:chOff x="333375" y="1381125"/>
            <a:chExt cx="4095900" cy="857400"/>
          </a:xfrm>
        </p:grpSpPr>
        <p:pic>
          <p:nvPicPr>
            <p:cNvPr id="87" name="Google Shape;87;g3f9b5de7d18_0_1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375" y="1381125"/>
              <a:ext cx="4095900" cy="8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g3f9b5de7d18_0_142"/>
            <p:cNvSpPr/>
            <p:nvPr/>
          </p:nvSpPr>
          <p:spPr>
            <a:xfrm>
              <a:off x="333375" y="138112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g3f9b5de7d18_0_142"/>
            <p:cNvSpPr/>
            <p:nvPr/>
          </p:nvSpPr>
          <p:spPr>
            <a:xfrm>
              <a:off x="466725" y="1657350"/>
              <a:ext cx="304800" cy="304800"/>
            </a:xfrm>
            <a:prstGeom prst="ellipse">
              <a:avLst/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g3f9b5de7d18_0_142"/>
            <p:cNvSpPr txBox="1"/>
            <p:nvPr/>
          </p:nvSpPr>
          <p:spPr>
            <a:xfrm>
              <a:off x="466725" y="16573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g3f9b5de7d18_0_142"/>
            <p:cNvSpPr txBox="1"/>
            <p:nvPr/>
          </p:nvSpPr>
          <p:spPr>
            <a:xfrm>
              <a:off x="904875" y="1457325"/>
              <a:ext cx="3381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Il fenomeno</a:t>
              </a:r>
              <a:endParaRPr b="1" sz="11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Ogni ciclo di carica e scarica sottrae capacità in modo irreversibile: la cella immagazzina progressivamente meno energia.</a:t>
              </a:r>
              <a:endParaRPr b="0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g3f9b5de7d18_0_142"/>
          <p:cNvGrpSpPr/>
          <p:nvPr/>
        </p:nvGrpSpPr>
        <p:grpSpPr>
          <a:xfrm>
            <a:off x="333375" y="2381250"/>
            <a:ext cx="4095900" cy="857400"/>
            <a:chOff x="333375" y="2381250"/>
            <a:chExt cx="4095900" cy="857400"/>
          </a:xfrm>
        </p:grpSpPr>
        <p:sp>
          <p:nvSpPr>
            <p:cNvPr id="93" name="Google Shape;93;g3f9b5de7d18_0_142"/>
            <p:cNvSpPr/>
            <p:nvPr/>
          </p:nvSpPr>
          <p:spPr>
            <a:xfrm>
              <a:off x="333375" y="2381250"/>
              <a:ext cx="4095900" cy="8574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f9b5de7d18_0_142"/>
            <p:cNvSpPr/>
            <p:nvPr/>
          </p:nvSpPr>
          <p:spPr>
            <a:xfrm>
              <a:off x="333375" y="238125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g3f9b5de7d18_0_142"/>
            <p:cNvSpPr/>
            <p:nvPr/>
          </p:nvSpPr>
          <p:spPr>
            <a:xfrm>
              <a:off x="466725" y="2657475"/>
              <a:ext cx="304800" cy="304800"/>
            </a:xfrm>
            <a:prstGeom prst="ellipse">
              <a:avLst/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g3f9b5de7d18_0_142"/>
            <p:cNvSpPr txBox="1"/>
            <p:nvPr/>
          </p:nvSpPr>
          <p:spPr>
            <a:xfrm>
              <a:off x="466725" y="265747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g3f9b5de7d18_0_142"/>
            <p:cNvSpPr txBox="1"/>
            <p:nvPr/>
          </p:nvSpPr>
          <p:spPr>
            <a:xfrm>
              <a:off x="904875" y="2457450"/>
              <a:ext cx="3381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Le conseguenze</a:t>
              </a:r>
              <a:endParaRPr b="1" sz="11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Autonomia ridotta, comportamento meno prevedibile, rischi di sicurezza nei sistemi che dipendono dalla cella.</a:t>
              </a:r>
              <a:endParaRPr b="0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g3f9b5de7d18_0_142"/>
          <p:cNvGrpSpPr/>
          <p:nvPr/>
        </p:nvGrpSpPr>
        <p:grpSpPr>
          <a:xfrm>
            <a:off x="333375" y="3381375"/>
            <a:ext cx="4095900" cy="857400"/>
            <a:chOff x="333375" y="3381375"/>
            <a:chExt cx="4095900" cy="857400"/>
          </a:xfrm>
        </p:grpSpPr>
        <p:sp>
          <p:nvSpPr>
            <p:cNvPr id="99" name="Google Shape;99;g3f9b5de7d18_0_142"/>
            <p:cNvSpPr/>
            <p:nvPr/>
          </p:nvSpPr>
          <p:spPr>
            <a:xfrm>
              <a:off x="333375" y="3381375"/>
              <a:ext cx="4095900" cy="8574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g3f9b5de7d18_0_142"/>
            <p:cNvSpPr/>
            <p:nvPr/>
          </p:nvSpPr>
          <p:spPr>
            <a:xfrm>
              <a:off x="333375" y="3381375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g3f9b5de7d18_0_142"/>
            <p:cNvSpPr/>
            <p:nvPr/>
          </p:nvSpPr>
          <p:spPr>
            <a:xfrm>
              <a:off x="466725" y="3657600"/>
              <a:ext cx="304800" cy="304800"/>
            </a:xfrm>
            <a:prstGeom prst="ellipse">
              <a:avLst/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f9b5de7d18_0_142"/>
            <p:cNvSpPr txBox="1"/>
            <p:nvPr/>
          </p:nvSpPr>
          <p:spPr>
            <a:xfrm>
              <a:off x="466725" y="36576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g3f9b5de7d18_0_142"/>
            <p:cNvSpPr txBox="1"/>
            <p:nvPr/>
          </p:nvSpPr>
          <p:spPr>
            <a:xfrm>
              <a:off x="904875" y="3457575"/>
              <a:ext cx="33813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L'indicatore</a:t>
              </a:r>
              <a:endParaRPr b="1" sz="11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Il SoH è il rapporto fra capacità attuale e capacità iniziale: trasforma il degrado in un numero monitorabile.</a:t>
              </a:r>
              <a:endParaRPr b="0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g3f9b5de7d18_0_142"/>
          <p:cNvGrpSpPr/>
          <p:nvPr/>
        </p:nvGrpSpPr>
        <p:grpSpPr>
          <a:xfrm>
            <a:off x="4953000" y="1381125"/>
            <a:ext cx="3619500" cy="2857500"/>
            <a:chOff x="4953000" y="1381125"/>
            <a:chExt cx="3619500" cy="2857500"/>
          </a:xfrm>
        </p:grpSpPr>
        <p:sp>
          <p:nvSpPr>
            <p:cNvPr id="105" name="Google Shape;105;g3f9b5de7d18_0_142"/>
            <p:cNvSpPr/>
            <p:nvPr/>
          </p:nvSpPr>
          <p:spPr>
            <a:xfrm>
              <a:off x="4953000" y="1381125"/>
              <a:ext cx="3619500" cy="2857500"/>
            </a:xfrm>
            <a:prstGeom prst="roundRect">
              <a:avLst>
                <a:gd fmla="val 2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" name="Google Shape;106;g3f9b5de7d18_0_142"/>
            <p:cNvGrpSpPr/>
            <p:nvPr/>
          </p:nvGrpSpPr>
          <p:grpSpPr>
            <a:xfrm>
              <a:off x="5238750" y="1571625"/>
              <a:ext cx="3048000" cy="609600"/>
              <a:chOff x="5238750" y="1571625"/>
              <a:chExt cx="3048000" cy="609600"/>
            </a:xfrm>
          </p:grpSpPr>
          <p:sp>
            <p:nvSpPr>
              <p:cNvPr id="107" name="Google Shape;107;g3f9b5de7d18_0_142"/>
              <p:cNvSpPr/>
              <p:nvPr/>
            </p:nvSpPr>
            <p:spPr>
              <a:xfrm>
                <a:off x="5238750" y="1571625"/>
                <a:ext cx="30480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15335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g3f9b5de7d18_0_142"/>
              <p:cNvSpPr txBox="1"/>
              <p:nvPr/>
            </p:nvSpPr>
            <p:spPr>
              <a:xfrm>
                <a:off x="5334000" y="1628775"/>
                <a:ext cx="28575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100">
                    <a:solidFill>
                      <a:srgbClr val="2D3D6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Capacità residua</a:t>
                </a:r>
                <a:endParaRPr b="1" sz="11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grandezza fisica misurabile</a:t>
                </a:r>
                <a:endParaRPr b="0" sz="9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09" name="Google Shape;109;g3f9b5de7d18_0_1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24650" y="2181225"/>
              <a:ext cx="76200" cy="214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" name="Google Shape;110;g3f9b5de7d18_0_142"/>
            <p:cNvGrpSpPr/>
            <p:nvPr/>
          </p:nvGrpSpPr>
          <p:grpSpPr>
            <a:xfrm>
              <a:off x="5238750" y="2428875"/>
              <a:ext cx="3048000" cy="609600"/>
              <a:chOff x="5238750" y="2428875"/>
              <a:chExt cx="3048000" cy="609600"/>
            </a:xfrm>
          </p:grpSpPr>
          <p:sp>
            <p:nvSpPr>
              <p:cNvPr id="111" name="Google Shape;111;g3f9b5de7d18_0_142"/>
              <p:cNvSpPr/>
              <p:nvPr/>
            </p:nvSpPr>
            <p:spPr>
              <a:xfrm>
                <a:off x="5238750" y="2428875"/>
                <a:ext cx="30480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1E293B"/>
              </a:solidFill>
              <a:ln cap="flat" cmpd="sng" w="14300">
                <a:solidFill>
                  <a:srgbClr val="00D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3f9b5de7d18_0_142"/>
              <p:cNvSpPr txBox="1"/>
              <p:nvPr/>
            </p:nvSpPr>
            <p:spPr>
              <a:xfrm>
                <a:off x="5334000" y="2486025"/>
                <a:ext cx="28575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1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SoH = capacità / capacità iniziale</a:t>
                </a:r>
                <a:endParaRPr b="1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it" sz="950">
                    <a:solidFill>
                      <a:srgbClr val="A5F3F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indicatore normalizzato fra 0 e 1</a:t>
                </a:r>
                <a:endParaRPr b="0" sz="950">
                  <a:solidFill>
                    <a:srgbClr val="A5F3FC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13" name="Google Shape;113;g3f9b5de7d18_0_14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24650" y="3038475"/>
              <a:ext cx="76200" cy="214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4" name="Google Shape;114;g3f9b5de7d18_0_142"/>
            <p:cNvGrpSpPr/>
            <p:nvPr/>
          </p:nvGrpSpPr>
          <p:grpSpPr>
            <a:xfrm>
              <a:off x="5238750" y="3286125"/>
              <a:ext cx="3048000" cy="609600"/>
              <a:chOff x="5238750" y="3286125"/>
              <a:chExt cx="3048000" cy="609600"/>
            </a:xfrm>
          </p:grpSpPr>
          <p:sp>
            <p:nvSpPr>
              <p:cNvPr id="115" name="Google Shape;115;g3f9b5de7d18_0_142"/>
              <p:cNvSpPr/>
              <p:nvPr/>
            </p:nvSpPr>
            <p:spPr>
              <a:xfrm>
                <a:off x="5238750" y="3286125"/>
                <a:ext cx="30480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2D3D6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g3f9b5de7d18_0_142"/>
              <p:cNvSpPr txBox="1"/>
              <p:nvPr/>
            </p:nvSpPr>
            <p:spPr>
              <a:xfrm>
                <a:off x="5334000" y="3343275"/>
                <a:ext cx="28575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100">
                    <a:solidFill>
                      <a:srgbClr val="2D3D6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Stimare e prevedere il SoH</a:t>
                </a:r>
                <a:endParaRPr b="1" sz="11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it" sz="950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quando misurarlo direttamente non è possibile </a:t>
                </a:r>
                <a:endParaRPr b="0" sz="9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17" name="Google Shape;117;g3f9b5de7d18_0_142"/>
          <p:cNvPicPr preferRelativeResize="0"/>
          <p:nvPr/>
        </p:nvPicPr>
        <p:blipFill rotWithShape="1">
          <a:blip r:embed="rId6">
            <a:alphaModFix/>
          </a:blip>
          <a:srcRect b="110" l="0" r="0" t="110"/>
          <a:stretch/>
        </p:blipFill>
        <p:spPr>
          <a:xfrm>
            <a:off x="6255068" y="4236720"/>
            <a:ext cx="2676600" cy="6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9b5de7d18_0_142"/>
          <p:cNvSpPr txBox="1"/>
          <p:nvPr/>
        </p:nvSpPr>
        <p:spPr>
          <a:xfrm>
            <a:off x="357188" y="4791075"/>
            <a:ext cx="150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9b5de7d18_0_142"/>
          <p:cNvSpPr txBox="1"/>
          <p:nvPr/>
        </p:nvSpPr>
        <p:spPr>
          <a:xfrm>
            <a:off x="3048000" y="4791075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f9b5de7d18_0_142"/>
          <p:cNvSpPr txBox="1"/>
          <p:nvPr/>
        </p:nvSpPr>
        <p:spPr>
          <a:xfrm>
            <a:off x="7836218" y="4791075"/>
            <a:ext cx="1038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9b5de7d18_0_3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g3f9b5de7d18_0_326"/>
          <p:cNvPicPr preferRelativeResize="0"/>
          <p:nvPr/>
        </p:nvPicPr>
        <p:blipFill rotWithShape="1">
          <a:blip r:embed="rId3">
            <a:alphaModFix/>
          </a:blip>
          <a:srcRect b="0" l="903" r="903" t="0"/>
          <a:stretch/>
        </p:blipFill>
        <p:spPr>
          <a:xfrm>
            <a:off x="357188" y="25718"/>
            <a:ext cx="1207800" cy="442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27" name="Google Shape;127;g3f9b5de7d18_0_326"/>
          <p:cNvSpPr txBox="1"/>
          <p:nvPr/>
        </p:nvSpPr>
        <p:spPr>
          <a:xfrm>
            <a:off x="1619250" y="76200"/>
            <a:ext cx="24765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9b5de7d18_0_326"/>
          <p:cNvSpPr txBox="1"/>
          <p:nvPr/>
        </p:nvSpPr>
        <p:spPr>
          <a:xfrm>
            <a:off x="333375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11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Scenario</a:t>
            </a:r>
            <a:endParaRPr b="0" sz="111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9b5de7d18_0_326"/>
          <p:cNvSpPr txBox="1"/>
          <p:nvPr/>
        </p:nvSpPr>
        <p:spPr>
          <a:xfrm>
            <a:off x="333375" y="7620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Obiettivo e domande di ricerca</a:t>
            </a:r>
            <a:endParaRPr b="1" sz="24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g3f9b5de7d18_0_3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1209675"/>
            <a:ext cx="8496300" cy="3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f9b5de7d18_0_326"/>
          <p:cNvSpPr txBox="1"/>
          <p:nvPr/>
        </p:nvSpPr>
        <p:spPr>
          <a:xfrm>
            <a:off x="428625" y="1219200"/>
            <a:ext cx="8286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Regressione su sequenze temporali — finestra di 10 cicli consecutivi, 10 variabili operative, previsione della variazione di SoH al ciclo successivo</a:t>
            </a:r>
            <a:endParaRPr b="1" sz="10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g3f9b5de7d18_0_326"/>
          <p:cNvGrpSpPr/>
          <p:nvPr/>
        </p:nvGrpSpPr>
        <p:grpSpPr>
          <a:xfrm>
            <a:off x="328613" y="1709738"/>
            <a:ext cx="4772100" cy="924000"/>
            <a:chOff x="328613" y="1709738"/>
            <a:chExt cx="4772100" cy="924000"/>
          </a:xfrm>
        </p:grpSpPr>
        <p:pic>
          <p:nvPicPr>
            <p:cNvPr id="133" name="Google Shape;133;g3f9b5de7d18_0_3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8613" y="1709738"/>
              <a:ext cx="4772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g3f9b5de7d18_0_326"/>
            <p:cNvSpPr/>
            <p:nvPr/>
          </p:nvSpPr>
          <p:spPr>
            <a:xfrm>
              <a:off x="333375" y="1714500"/>
              <a:ext cx="57300" cy="914400"/>
            </a:xfrm>
            <a:prstGeom prst="roundRect">
              <a:avLst>
                <a:gd fmla="val 50000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Google Shape;135;g3f9b5de7d18_0_326"/>
            <p:cNvGrpSpPr/>
            <p:nvPr/>
          </p:nvGrpSpPr>
          <p:grpSpPr>
            <a:xfrm>
              <a:off x="523875" y="2019300"/>
              <a:ext cx="304800" cy="304800"/>
              <a:chOff x="0" y="0"/>
              <a:chExt cx="304800" cy="304800"/>
            </a:xfrm>
          </p:grpSpPr>
          <p:pic>
            <p:nvPicPr>
              <p:cNvPr id="136" name="Google Shape;136;g3f9b5de7d18_0_3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137;g3f9b5de7d18_0_32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" name="Google Shape;138;g3f9b5de7d18_0_326"/>
            <p:cNvSpPr txBox="1"/>
            <p:nvPr/>
          </p:nvSpPr>
          <p:spPr>
            <a:xfrm>
              <a:off x="923925" y="1790700"/>
              <a:ext cx="40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D1 — Confronto fra architetture</a:t>
              </a:r>
              <a:endParaRPr b="1" sz="11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"Quale architettura prevede meglio il SoH, e quanto si distingue da una baseline che ripete l'ultimo valore osservato?"</a:t>
              </a:r>
              <a:endParaRPr b="0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g3f9b5de7d18_0_326"/>
          <p:cNvGrpSpPr/>
          <p:nvPr/>
        </p:nvGrpSpPr>
        <p:grpSpPr>
          <a:xfrm>
            <a:off x="328613" y="2738438"/>
            <a:ext cx="4772100" cy="924000"/>
            <a:chOff x="328613" y="2738438"/>
            <a:chExt cx="4772100" cy="924000"/>
          </a:xfrm>
        </p:grpSpPr>
        <p:pic>
          <p:nvPicPr>
            <p:cNvPr id="140" name="Google Shape;140;g3f9b5de7d18_0_3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8613" y="2738438"/>
              <a:ext cx="4772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g3f9b5de7d18_0_326"/>
            <p:cNvSpPr/>
            <p:nvPr/>
          </p:nvSpPr>
          <p:spPr>
            <a:xfrm>
              <a:off x="333375" y="2743200"/>
              <a:ext cx="57300" cy="914400"/>
            </a:xfrm>
            <a:prstGeom prst="roundRect">
              <a:avLst>
                <a:gd fmla="val 50000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" name="Google Shape;142;g3f9b5de7d18_0_326"/>
            <p:cNvGrpSpPr/>
            <p:nvPr/>
          </p:nvGrpSpPr>
          <p:grpSpPr>
            <a:xfrm>
              <a:off x="523875" y="3048000"/>
              <a:ext cx="304800" cy="304800"/>
              <a:chOff x="0" y="0"/>
              <a:chExt cx="304800" cy="304800"/>
            </a:xfrm>
          </p:grpSpPr>
          <p:pic>
            <p:nvPicPr>
              <p:cNvPr id="143" name="Google Shape;143;g3f9b5de7d18_0_32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" name="Google Shape;144;g3f9b5de7d18_0_32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5" name="Google Shape;145;g3f9b5de7d18_0_326"/>
            <p:cNvSpPr txBox="1"/>
            <p:nvPr/>
          </p:nvSpPr>
          <p:spPr>
            <a:xfrm>
              <a:off x="923925" y="2819400"/>
              <a:ext cx="40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D2 — Stress operativo o conseguenza?</a:t>
              </a:r>
              <a:endParaRPr b="1" sz="11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"Quali condizioni operative sono associate a un degrado più rapido, e quali sono invece un effetto del degrado già avvenuto?"</a:t>
              </a:r>
              <a:endParaRPr b="0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g3f9b5de7d18_0_326"/>
          <p:cNvGrpSpPr/>
          <p:nvPr/>
        </p:nvGrpSpPr>
        <p:grpSpPr>
          <a:xfrm>
            <a:off x="328613" y="3767138"/>
            <a:ext cx="4772100" cy="924000"/>
            <a:chOff x="328613" y="3767138"/>
            <a:chExt cx="4772100" cy="924000"/>
          </a:xfrm>
        </p:grpSpPr>
        <p:pic>
          <p:nvPicPr>
            <p:cNvPr id="147" name="Google Shape;147;g3f9b5de7d18_0_3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8613" y="3767138"/>
              <a:ext cx="4772100" cy="9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g3f9b5de7d18_0_326"/>
            <p:cNvSpPr/>
            <p:nvPr/>
          </p:nvSpPr>
          <p:spPr>
            <a:xfrm>
              <a:off x="333375" y="3771900"/>
              <a:ext cx="57300" cy="9144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g3f9b5de7d18_0_326"/>
            <p:cNvGrpSpPr/>
            <p:nvPr/>
          </p:nvGrpSpPr>
          <p:grpSpPr>
            <a:xfrm>
              <a:off x="523875" y="4076700"/>
              <a:ext cx="304800" cy="304800"/>
              <a:chOff x="0" y="0"/>
              <a:chExt cx="304800" cy="304800"/>
            </a:xfrm>
          </p:grpSpPr>
          <p:pic>
            <p:nvPicPr>
              <p:cNvPr id="150" name="Google Shape;150;g3f9b5de7d18_0_32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g3f9b5de7d18_0_326"/>
              <p:cNvSpPr txBox="1"/>
              <p:nvPr/>
            </p:nvSpPr>
            <p:spPr>
              <a:xfrm>
                <a:off x="0" y="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" name="Google Shape;152;g3f9b5de7d18_0_326"/>
            <p:cNvSpPr txBox="1"/>
            <p:nvPr/>
          </p:nvSpPr>
          <p:spPr>
            <a:xfrm>
              <a:off x="923925" y="3848100"/>
              <a:ext cx="40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D3 — Robustezza fuori distribuzione</a:t>
              </a:r>
              <a:endParaRPr b="1" sz="11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"Quanto peggiorano i modelli su celle cicliate con un protocollo mai visto in addestramento?"</a:t>
              </a:r>
              <a:endParaRPr b="0"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g3f9b5de7d18_0_326"/>
          <p:cNvSpPr/>
          <p:nvPr/>
        </p:nvSpPr>
        <p:spPr>
          <a:xfrm>
            <a:off x="5381625" y="1714500"/>
            <a:ext cx="3429000" cy="2971800"/>
          </a:xfrm>
          <a:prstGeom prst="roundRect">
            <a:avLst>
              <a:gd fmla="val 25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g3f9b5de7d18_0_326"/>
          <p:cNvGrpSpPr/>
          <p:nvPr/>
        </p:nvGrpSpPr>
        <p:grpSpPr>
          <a:xfrm>
            <a:off x="5662613" y="1900238"/>
            <a:ext cx="2867100" cy="619200"/>
            <a:chOff x="5662613" y="1900238"/>
            <a:chExt cx="2867100" cy="619200"/>
          </a:xfrm>
        </p:grpSpPr>
        <p:pic>
          <p:nvPicPr>
            <p:cNvPr id="155" name="Google Shape;155;g3f9b5de7d18_0_3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62613" y="1900238"/>
              <a:ext cx="2867100" cy="6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g3f9b5de7d18_0_326"/>
            <p:cNvSpPr txBox="1"/>
            <p:nvPr/>
          </p:nvSpPr>
          <p:spPr>
            <a:xfrm>
              <a:off x="5667375" y="1905000"/>
              <a:ext cx="2857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D1</a:t>
              </a:r>
              <a:endParaRPr b="1" sz="14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confrontare</a:t>
              </a:r>
              <a:endParaRPr b="0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7" name="Google Shape;157;g3f9b5de7d18_0_3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86600" y="2514600"/>
            <a:ext cx="1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f9b5de7d18_0_3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48500" y="2643188"/>
            <a:ext cx="954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g3f9b5de7d18_0_326"/>
          <p:cNvGrpSpPr/>
          <p:nvPr/>
        </p:nvGrpSpPr>
        <p:grpSpPr>
          <a:xfrm>
            <a:off x="5657850" y="2695575"/>
            <a:ext cx="2876700" cy="628800"/>
            <a:chOff x="5657850" y="2695575"/>
            <a:chExt cx="2876700" cy="628800"/>
          </a:xfrm>
        </p:grpSpPr>
        <p:pic>
          <p:nvPicPr>
            <p:cNvPr id="160" name="Google Shape;160;g3f9b5de7d18_0_32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657850" y="2695575"/>
              <a:ext cx="2876700" cy="628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g3f9b5de7d18_0_326"/>
            <p:cNvSpPr txBox="1"/>
            <p:nvPr/>
          </p:nvSpPr>
          <p:spPr>
            <a:xfrm>
              <a:off x="5667375" y="2705100"/>
              <a:ext cx="2857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D2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A5F3FC"/>
                  </a:solidFill>
                  <a:latin typeface="Calibri"/>
                  <a:ea typeface="Calibri"/>
                  <a:cs typeface="Calibri"/>
                  <a:sym typeface="Calibri"/>
                </a:rPr>
                <a:t>interpretare</a:t>
              </a:r>
              <a:endParaRPr b="0" sz="950">
                <a:solidFill>
                  <a:srgbClr val="A5F3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2" name="Google Shape;162;g3f9b5de7d18_0_3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86600" y="3314700"/>
            <a:ext cx="192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f9b5de7d18_0_3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48500" y="3443288"/>
            <a:ext cx="95400" cy="7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g3f9b5de7d18_0_326"/>
          <p:cNvGrpSpPr/>
          <p:nvPr/>
        </p:nvGrpSpPr>
        <p:grpSpPr>
          <a:xfrm>
            <a:off x="5662613" y="3500438"/>
            <a:ext cx="2867100" cy="619200"/>
            <a:chOff x="5662613" y="3500438"/>
            <a:chExt cx="2867100" cy="619200"/>
          </a:xfrm>
        </p:grpSpPr>
        <p:pic>
          <p:nvPicPr>
            <p:cNvPr id="165" name="Google Shape;165;g3f9b5de7d18_0_3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62613" y="3500438"/>
              <a:ext cx="2867100" cy="6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g3f9b5de7d18_0_326"/>
            <p:cNvSpPr txBox="1"/>
            <p:nvPr/>
          </p:nvSpPr>
          <p:spPr>
            <a:xfrm>
              <a:off x="5667375" y="3505200"/>
              <a:ext cx="2857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D3</a:t>
              </a:r>
              <a:endParaRPr b="1" sz="14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generalizzare</a:t>
              </a:r>
              <a:endParaRPr b="0" sz="9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g3f9b5de7d18_0_326"/>
          <p:cNvSpPr txBox="1"/>
          <p:nvPr/>
        </p:nvSpPr>
        <p:spPr>
          <a:xfrm>
            <a:off x="357188" y="47910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9b5de7d18_0_326"/>
          <p:cNvSpPr txBox="1"/>
          <p:nvPr/>
        </p:nvSpPr>
        <p:spPr>
          <a:xfrm>
            <a:off x="3048000" y="4791075"/>
            <a:ext cx="304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9b5de7d18_0_326"/>
          <p:cNvSpPr txBox="1"/>
          <p:nvPr/>
        </p:nvSpPr>
        <p:spPr>
          <a:xfrm>
            <a:off x="7836218" y="4791075"/>
            <a:ext cx="1038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Dataset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b5de7d18_0_4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g3f9b5de7d18_0_4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f9b5de7d18_0_498"/>
          <p:cNvPicPr preferRelativeResize="0"/>
          <p:nvPr/>
        </p:nvPicPr>
        <p:blipFill rotWithShape="1">
          <a:blip r:embed="rId4">
            <a:alphaModFix/>
          </a:blip>
          <a:srcRect b="70" l="0" r="1932" t="60"/>
          <a:stretch/>
        </p:blipFill>
        <p:spPr>
          <a:xfrm>
            <a:off x="357188" y="25718"/>
            <a:ext cx="1207800" cy="442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2" name="Google Shape;182;g3f9b5de7d18_0_498"/>
          <p:cNvSpPr txBox="1"/>
          <p:nvPr/>
        </p:nvSpPr>
        <p:spPr>
          <a:xfrm>
            <a:off x="1622108" y="76200"/>
            <a:ext cx="248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9b5de7d18_0_498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Dataset</a:t>
            </a:r>
            <a:endParaRPr b="0" sz="11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9b5de7d18_0_498"/>
          <p:cNvSpPr txBox="1"/>
          <p:nvPr/>
        </p:nvSpPr>
        <p:spPr>
          <a:xfrm>
            <a:off x="328613" y="7810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NASA Battery Aging Dataset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g3f9b5de7d18_0_498"/>
          <p:cNvGrpSpPr/>
          <p:nvPr/>
        </p:nvGrpSpPr>
        <p:grpSpPr>
          <a:xfrm>
            <a:off x="328613" y="1381125"/>
            <a:ext cx="4857900" cy="3000300"/>
            <a:chOff x="328613" y="1381125"/>
            <a:chExt cx="4857900" cy="3000300"/>
          </a:xfrm>
        </p:grpSpPr>
        <p:sp>
          <p:nvSpPr>
            <p:cNvPr id="186" name="Google Shape;186;g3f9b5de7d18_0_498"/>
            <p:cNvSpPr txBox="1"/>
            <p:nvPr/>
          </p:nvSpPr>
          <p:spPr>
            <a:xfrm>
              <a:off x="328613" y="1381125"/>
              <a:ext cx="48579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1. La sorgente</a:t>
              </a:r>
              <a:endParaRPr b="1" sz="13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Dataset pubblico del Prognostics Center of Excellence:</a:t>
              </a: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celle commerciali portate a fine vita in laboratorio sotto condizioni operative controllate.</a:t>
              </a:r>
              <a:endParaRPr b="0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g3f9b5de7d18_0_498"/>
            <p:cNvSpPr txBox="1"/>
            <p:nvPr/>
          </p:nvSpPr>
          <p:spPr>
            <a:xfrm>
              <a:off x="328613" y="2428875"/>
              <a:ext cx="48579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2. Il contenuto</a:t>
              </a:r>
              <a:endParaRPr b="1" sz="13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Cicli ripetuti di carica, scarica e spettroscopia di impedenza, registrati come </a:t>
              </a:r>
              <a:r>
                <a:rPr b="1"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serie temporali</a:t>
              </a: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dentro </a:t>
              </a:r>
              <a:r>
                <a:rPr b="1"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file .mat</a:t>
              </a: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f9b5de7d18_0_498"/>
            <p:cNvSpPr txBox="1"/>
            <p:nvPr/>
          </p:nvSpPr>
          <p:spPr>
            <a:xfrm>
              <a:off x="328613" y="3476625"/>
              <a:ext cx="48579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3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3. Il percorso</a:t>
              </a:r>
              <a:endParaRPr b="1" sz="13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Dai cicli di scarica si estraggono le variabili operative e la capacità, da cui si calcola il </a:t>
              </a:r>
              <a:r>
                <a:rPr b="1"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SoH</a:t>
              </a: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 che diventa il </a:t>
              </a:r>
              <a:r>
                <a:rPr b="1"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bersaglio</a:t>
              </a:r>
              <a:r>
                <a:rPr b="0" lang="it" sz="105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g3f9b5de7d18_0_498"/>
          <p:cNvGrpSpPr/>
          <p:nvPr/>
        </p:nvGrpSpPr>
        <p:grpSpPr>
          <a:xfrm>
            <a:off x="6096000" y="571500"/>
            <a:ext cx="2476500" cy="3286125"/>
            <a:chOff x="6096000" y="571500"/>
            <a:chExt cx="2476500" cy="3286125"/>
          </a:xfrm>
        </p:grpSpPr>
        <p:sp>
          <p:nvSpPr>
            <p:cNvPr id="190" name="Google Shape;190;g3f9b5de7d18_0_498"/>
            <p:cNvSpPr/>
            <p:nvPr/>
          </p:nvSpPr>
          <p:spPr>
            <a:xfrm>
              <a:off x="6096000" y="571500"/>
              <a:ext cx="2476500" cy="5715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g3f9b5de7d18_0_498"/>
            <p:cNvSpPr txBox="1"/>
            <p:nvPr/>
          </p:nvSpPr>
          <p:spPr>
            <a:xfrm>
              <a:off x="6191250" y="619125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File .mat NASA</a:t>
              </a:r>
              <a:endParaRPr b="1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850">
                  <a:solidFill>
                    <a:srgbClr val="A5F3FC"/>
                  </a:solidFill>
                  <a:latin typeface="Calibri"/>
                  <a:ea typeface="Calibri"/>
                  <a:cs typeface="Calibri"/>
                  <a:sym typeface="Calibri"/>
                </a:rPr>
                <a:t>una struttura per cella</a:t>
              </a:r>
              <a:endParaRPr b="0" sz="850">
                <a:solidFill>
                  <a:srgbClr val="A5F3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2" name="Google Shape;192;g3f9b5de7d18_0_4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24725" y="1143000"/>
              <a:ext cx="19200" cy="2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g3f9b5de7d18_0_4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96150" y="13430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g3f9b5de7d18_0_498"/>
            <p:cNvSpPr/>
            <p:nvPr/>
          </p:nvSpPr>
          <p:spPr>
            <a:xfrm>
              <a:off x="6096000" y="1476375"/>
              <a:ext cx="2476500" cy="5715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g3f9b5de7d18_0_498"/>
            <p:cNvSpPr txBox="1"/>
            <p:nvPr/>
          </p:nvSpPr>
          <p:spPr>
            <a:xfrm>
              <a:off x="6191250" y="1524000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Cicli di scarica</a:t>
              </a:r>
              <a:endParaRPr b="1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850">
                  <a:solidFill>
                    <a:srgbClr val="A5F3FC"/>
                  </a:solidFill>
                  <a:latin typeface="Calibri"/>
                  <a:ea typeface="Calibri"/>
                  <a:cs typeface="Calibri"/>
                  <a:sym typeface="Calibri"/>
                </a:rPr>
                <a:t>tensione, corrente, temperatura, durata</a:t>
              </a:r>
              <a:endParaRPr b="0" sz="850">
                <a:solidFill>
                  <a:srgbClr val="A5F3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6" name="Google Shape;196;g3f9b5de7d18_0_4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24725" y="2047875"/>
              <a:ext cx="19200" cy="2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g3f9b5de7d18_0_4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96150" y="2247900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g3f9b5de7d18_0_498"/>
            <p:cNvSpPr/>
            <p:nvPr/>
          </p:nvSpPr>
          <p:spPr>
            <a:xfrm>
              <a:off x="6096000" y="2381250"/>
              <a:ext cx="2476500" cy="5715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g3f9b5de7d18_0_498"/>
            <p:cNvSpPr txBox="1"/>
            <p:nvPr/>
          </p:nvSpPr>
          <p:spPr>
            <a:xfrm>
              <a:off x="6191250" y="2428875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Capacità per ciclo</a:t>
              </a:r>
              <a:endParaRPr b="1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850">
                  <a:solidFill>
                    <a:srgbClr val="A5F3FC"/>
                  </a:solidFill>
                  <a:latin typeface="Calibri"/>
                  <a:ea typeface="Calibri"/>
                  <a:cs typeface="Calibri"/>
                  <a:sym typeface="Calibri"/>
                </a:rPr>
                <a:t>riferita alla mediana dei primi 5 cicli</a:t>
              </a:r>
              <a:endParaRPr b="0" sz="850">
                <a:solidFill>
                  <a:srgbClr val="A5F3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0" name="Google Shape;200;g3f9b5de7d18_0_4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24725" y="2952750"/>
              <a:ext cx="19200" cy="23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g3f9b5de7d18_0_4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96150" y="315277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g3f9b5de7d18_0_498"/>
            <p:cNvSpPr/>
            <p:nvPr/>
          </p:nvSpPr>
          <p:spPr>
            <a:xfrm>
              <a:off x="6096000" y="3286125"/>
              <a:ext cx="2476500" cy="5715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g3f9b5de7d18_0_498"/>
            <p:cNvSpPr txBox="1"/>
            <p:nvPr/>
          </p:nvSpPr>
          <p:spPr>
            <a:xfrm>
              <a:off x="6191250" y="3333750"/>
              <a:ext cx="2286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SoH</a:t>
              </a:r>
              <a:endParaRPr b="1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850">
                  <a:solidFill>
                    <a:srgbClr val="A5F3FC"/>
                  </a:solidFill>
                  <a:latin typeface="Calibri"/>
                  <a:ea typeface="Calibri"/>
                  <a:cs typeface="Calibri"/>
                  <a:sym typeface="Calibri"/>
                </a:rPr>
                <a:t>il bersaglio del modello</a:t>
              </a:r>
              <a:endParaRPr b="0" sz="850">
                <a:solidFill>
                  <a:srgbClr val="A5F3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g3f9b5de7d18_0_498"/>
          <p:cNvSpPr txBox="1"/>
          <p:nvPr/>
        </p:nvSpPr>
        <p:spPr>
          <a:xfrm>
            <a:off x="357188" y="4792028"/>
            <a:ext cx="1905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9b5de7d18_0_498"/>
          <p:cNvSpPr txBox="1"/>
          <p:nvPr/>
        </p:nvSpPr>
        <p:spPr>
          <a:xfrm>
            <a:off x="3048000" y="4792028"/>
            <a:ext cx="30480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9b5de7d18_0_6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g3f9b5de7d18_0_669"/>
          <p:cNvGrpSpPr/>
          <p:nvPr/>
        </p:nvGrpSpPr>
        <p:grpSpPr>
          <a:xfrm>
            <a:off x="357188" y="0"/>
            <a:ext cx="3748920" cy="495300"/>
            <a:chOff x="357188" y="0"/>
            <a:chExt cx="3748920" cy="495300"/>
          </a:xfrm>
        </p:grpSpPr>
        <p:pic>
          <p:nvPicPr>
            <p:cNvPr id="212" name="Google Shape;212;g3f9b5de7d18_0_669"/>
            <p:cNvPicPr preferRelativeResize="0"/>
            <p:nvPr/>
          </p:nvPicPr>
          <p:blipFill rotWithShape="1">
            <a:blip r:embed="rId3">
              <a:alphaModFix/>
            </a:blip>
            <a:srcRect b="0" l="0" r="10" t="0"/>
            <a:stretch/>
          </p:blipFill>
          <p:spPr>
            <a:xfrm>
              <a:off x="357188" y="25718"/>
              <a:ext cx="1231500" cy="44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g3f9b5de7d18_0_669"/>
            <p:cNvSpPr txBox="1"/>
            <p:nvPr/>
          </p:nvSpPr>
          <p:spPr>
            <a:xfrm>
              <a:off x="1622108" y="0"/>
              <a:ext cx="2484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7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Dipartimento di Matematica e Informatica</a:t>
              </a:r>
              <a:endParaRPr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7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Facoltà di Scienze</a:t>
              </a:r>
              <a:endParaRPr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70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Corso di Laurea in Informatica Applicata e Data Analytics</a:t>
              </a:r>
              <a:endParaRPr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g3f9b5de7d18_0_669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Dataset</a:t>
            </a:r>
            <a:endParaRPr sz="11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9b5de7d18_0_669"/>
          <p:cNvSpPr txBox="1"/>
          <p:nvPr/>
        </p:nvSpPr>
        <p:spPr>
          <a:xfrm>
            <a:off x="328613" y="742950"/>
            <a:ext cx="8477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35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Blocchi di protocollo e suddivisione dei dati</a:t>
            </a:r>
            <a:endParaRPr b="1" sz="2035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9b5de7d18_0_669"/>
          <p:cNvSpPr/>
          <p:nvPr/>
        </p:nvSpPr>
        <p:spPr>
          <a:xfrm>
            <a:off x="328613" y="1123950"/>
            <a:ext cx="8477400" cy="381000"/>
          </a:xfrm>
          <a:prstGeom prst="roundRect">
            <a:avLst>
              <a:gd fmla="val 10000" name="adj"/>
            </a:avLst>
          </a:prstGeom>
          <a:solidFill>
            <a:srgbClr val="F0F4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b5de7d18_0_669"/>
          <p:cNvSpPr/>
          <p:nvPr/>
        </p:nvSpPr>
        <p:spPr>
          <a:xfrm>
            <a:off x="485775" y="1281113"/>
            <a:ext cx="66600" cy="66600"/>
          </a:xfrm>
          <a:prstGeom prst="ellipse">
            <a:avLst/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9b5de7d18_0_669"/>
          <p:cNvSpPr txBox="1"/>
          <p:nvPr/>
        </p:nvSpPr>
        <p:spPr>
          <a:xfrm>
            <a:off x="661988" y="11239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B0042 e B0043 cambiano protocollo dopo il 40° ciclo: l'unità di analisi non è la cella ma il blocco di protocollo — 10 celle, 12 blocchi</a:t>
            </a:r>
            <a:endParaRPr b="1" sz="115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9" name="Google Shape;219;g3f9b5de7d18_0_669"/>
          <p:cNvGrpSpPr/>
          <p:nvPr/>
        </p:nvGrpSpPr>
        <p:grpSpPr>
          <a:xfrm>
            <a:off x="328613" y="1600200"/>
            <a:ext cx="8477400" cy="304800"/>
            <a:chOff x="328613" y="1600200"/>
            <a:chExt cx="8477400" cy="304800"/>
          </a:xfrm>
        </p:grpSpPr>
        <p:sp>
          <p:nvSpPr>
            <p:cNvPr id="220" name="Google Shape;220;g3f9b5de7d18_0_669"/>
            <p:cNvSpPr/>
            <p:nvPr/>
          </p:nvSpPr>
          <p:spPr>
            <a:xfrm>
              <a:off x="328613" y="1600200"/>
              <a:ext cx="8477400" cy="304800"/>
            </a:xfrm>
            <a:prstGeom prst="roundRect">
              <a:avLst>
                <a:gd fmla="val 12500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g3f9b5de7d18_0_669"/>
            <p:cNvSpPr txBox="1"/>
            <p:nvPr/>
          </p:nvSpPr>
          <p:spPr>
            <a:xfrm>
              <a:off x="471488" y="1600200"/>
              <a:ext cx="1428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Insieme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g3f9b5de7d18_0_669"/>
            <p:cNvSpPr txBox="1"/>
            <p:nvPr/>
          </p:nvSpPr>
          <p:spPr>
            <a:xfrm>
              <a:off x="2043113" y="1600200"/>
              <a:ext cx="2952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Blocchi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f9b5de7d18_0_669"/>
            <p:cNvSpPr txBox="1"/>
            <p:nvPr/>
          </p:nvSpPr>
          <p:spPr>
            <a:xfrm>
              <a:off x="5138738" y="1600200"/>
              <a:ext cx="2381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Protocollo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f9b5de7d18_0_669"/>
            <p:cNvSpPr txBox="1"/>
            <p:nvPr/>
          </p:nvSpPr>
          <p:spPr>
            <a:xfrm>
              <a:off x="7662863" y="1600200"/>
              <a:ext cx="1000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Finestre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g3f9b5de7d18_0_669"/>
          <p:cNvGrpSpPr/>
          <p:nvPr/>
        </p:nvGrpSpPr>
        <p:grpSpPr>
          <a:xfrm>
            <a:off x="328613" y="1943100"/>
            <a:ext cx="8477400" cy="342900"/>
            <a:chOff x="328613" y="1943100"/>
            <a:chExt cx="8477400" cy="342900"/>
          </a:xfrm>
        </p:grpSpPr>
        <p:sp>
          <p:nvSpPr>
            <p:cNvPr id="226" name="Google Shape;226;g3f9b5de7d18_0_669"/>
            <p:cNvSpPr/>
            <p:nvPr/>
          </p:nvSpPr>
          <p:spPr>
            <a:xfrm>
              <a:off x="328613" y="1943100"/>
              <a:ext cx="847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g3f9b5de7d18_0_669"/>
            <p:cNvSpPr txBox="1"/>
            <p:nvPr/>
          </p:nvSpPr>
          <p:spPr>
            <a:xfrm>
              <a:off x="471488" y="19431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Training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f9b5de7d18_0_669"/>
            <p:cNvSpPr txBox="1"/>
            <p:nvPr/>
          </p:nvSpPr>
          <p:spPr>
            <a:xfrm>
              <a:off x="2043113" y="19431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B0005, B0006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g3f9b5de7d18_0_669"/>
            <p:cNvSpPr txBox="1"/>
            <p:nvPr/>
          </p:nvSpPr>
          <p:spPr>
            <a:xfrm>
              <a:off x="5138738" y="1943100"/>
              <a:ext cx="2381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24 °C, 2 A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f9b5de7d18_0_669"/>
            <p:cNvSpPr txBox="1"/>
            <p:nvPr/>
          </p:nvSpPr>
          <p:spPr>
            <a:xfrm>
              <a:off x="7662863" y="1943100"/>
              <a:ext cx="1000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316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g3f9b5de7d18_0_669"/>
          <p:cNvGrpSpPr/>
          <p:nvPr/>
        </p:nvGrpSpPr>
        <p:grpSpPr>
          <a:xfrm>
            <a:off x="328613" y="2324100"/>
            <a:ext cx="8477400" cy="342900"/>
            <a:chOff x="328613" y="2324100"/>
            <a:chExt cx="8477400" cy="342900"/>
          </a:xfrm>
        </p:grpSpPr>
        <p:sp>
          <p:nvSpPr>
            <p:cNvPr id="232" name="Google Shape;232;g3f9b5de7d18_0_669"/>
            <p:cNvSpPr/>
            <p:nvPr/>
          </p:nvSpPr>
          <p:spPr>
            <a:xfrm>
              <a:off x="328613" y="2324100"/>
              <a:ext cx="847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g3f9b5de7d18_0_669"/>
            <p:cNvSpPr txBox="1"/>
            <p:nvPr/>
          </p:nvSpPr>
          <p:spPr>
            <a:xfrm>
              <a:off x="471488" y="23241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Validation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f9b5de7d18_0_669"/>
            <p:cNvSpPr txBox="1"/>
            <p:nvPr/>
          </p:nvSpPr>
          <p:spPr>
            <a:xfrm>
              <a:off x="2043113" y="23241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B0007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f9b5de7d18_0_669"/>
            <p:cNvSpPr txBox="1"/>
            <p:nvPr/>
          </p:nvSpPr>
          <p:spPr>
            <a:xfrm>
              <a:off x="5138738" y="2324100"/>
              <a:ext cx="2381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24 °C, 2 A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f9b5de7d18_0_669"/>
            <p:cNvSpPr txBox="1"/>
            <p:nvPr/>
          </p:nvSpPr>
          <p:spPr>
            <a:xfrm>
              <a:off x="7662863" y="2324100"/>
              <a:ext cx="1000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158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g3f9b5de7d18_0_669"/>
          <p:cNvGrpSpPr/>
          <p:nvPr/>
        </p:nvGrpSpPr>
        <p:grpSpPr>
          <a:xfrm>
            <a:off x="328613" y="2705100"/>
            <a:ext cx="8477400" cy="342900"/>
            <a:chOff x="328613" y="2705100"/>
            <a:chExt cx="8477400" cy="342900"/>
          </a:xfrm>
        </p:grpSpPr>
        <p:sp>
          <p:nvSpPr>
            <p:cNvPr id="238" name="Google Shape;238;g3f9b5de7d18_0_669"/>
            <p:cNvSpPr/>
            <p:nvPr/>
          </p:nvSpPr>
          <p:spPr>
            <a:xfrm>
              <a:off x="328613" y="2705100"/>
              <a:ext cx="8477400" cy="3429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g3f9b5de7d18_0_669"/>
            <p:cNvSpPr txBox="1"/>
            <p:nvPr/>
          </p:nvSpPr>
          <p:spPr>
            <a:xfrm>
              <a:off x="471488" y="27051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Test in distribuzione</a:t>
              </a:r>
              <a:endParaRPr b="1" sz="105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f9b5de7d18_0_669"/>
            <p:cNvSpPr txBox="1"/>
            <p:nvPr/>
          </p:nvSpPr>
          <p:spPr>
            <a:xfrm>
              <a:off x="2043113" y="27051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B0018 + prima parte di B0042 e B0043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3f9b5de7d18_0_669"/>
            <p:cNvSpPr txBox="1"/>
            <p:nvPr/>
          </p:nvSpPr>
          <p:spPr>
            <a:xfrm>
              <a:off x="5138738" y="2705100"/>
              <a:ext cx="2381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24 e 22 °C, 2 A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f9b5de7d18_0_669"/>
            <p:cNvSpPr txBox="1"/>
            <p:nvPr/>
          </p:nvSpPr>
          <p:spPr>
            <a:xfrm>
              <a:off x="7662863" y="2705100"/>
              <a:ext cx="1000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172</a:t>
              </a:r>
              <a:endParaRPr b="1" sz="105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3" name="Google Shape;243;g3f9b5de7d18_0_669"/>
          <p:cNvGrpSpPr/>
          <p:nvPr/>
        </p:nvGrpSpPr>
        <p:grpSpPr>
          <a:xfrm>
            <a:off x="328613" y="3086100"/>
            <a:ext cx="8477400" cy="342900"/>
            <a:chOff x="328613" y="3086100"/>
            <a:chExt cx="8477400" cy="342900"/>
          </a:xfrm>
        </p:grpSpPr>
        <p:sp>
          <p:nvSpPr>
            <p:cNvPr id="244" name="Google Shape;244;g3f9b5de7d18_0_669"/>
            <p:cNvSpPr/>
            <p:nvPr/>
          </p:nvSpPr>
          <p:spPr>
            <a:xfrm>
              <a:off x="328613" y="3086100"/>
              <a:ext cx="847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4300">
              <a:solidFill>
                <a:srgbClr val="1533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g3f9b5de7d18_0_669"/>
            <p:cNvSpPr txBox="1"/>
            <p:nvPr/>
          </p:nvSpPr>
          <p:spPr>
            <a:xfrm>
              <a:off x="471488" y="3086100"/>
              <a:ext cx="1428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Test fuori distribuzione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f9b5de7d18_0_669"/>
            <p:cNvSpPr txBox="1"/>
            <p:nvPr/>
          </p:nvSpPr>
          <p:spPr>
            <a:xfrm>
              <a:off x="2043113" y="3086100"/>
              <a:ext cx="295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B0029–B0032 + seconda parte di B0042 e B0043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3f9b5de7d18_0_669"/>
            <p:cNvSpPr txBox="1"/>
            <p:nvPr/>
          </p:nvSpPr>
          <p:spPr>
            <a:xfrm>
              <a:off x="5138738" y="3086100"/>
              <a:ext cx="23814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050">
                  <a:solidFill>
                    <a:srgbClr val="2D3D6A"/>
                  </a:solidFill>
                  <a:latin typeface="Calibri"/>
                  <a:ea typeface="Calibri"/>
                  <a:cs typeface="Calibri"/>
                  <a:sym typeface="Calibri"/>
                </a:rPr>
                <a:t>43 °C 4 A, 4 °C 3 A</a:t>
              </a:r>
              <a:endParaRPr sz="105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g3f9b5de7d18_0_669"/>
            <p:cNvSpPr txBox="1"/>
            <p:nvPr/>
          </p:nvSpPr>
          <p:spPr>
            <a:xfrm>
              <a:off x="7662863" y="3086100"/>
              <a:ext cx="1000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150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g3f9b5de7d18_0_669"/>
          <p:cNvGrpSpPr/>
          <p:nvPr/>
        </p:nvGrpSpPr>
        <p:grpSpPr>
          <a:xfrm>
            <a:off x="328613" y="3524250"/>
            <a:ext cx="8477400" cy="514500"/>
            <a:chOff x="328613" y="3524250"/>
            <a:chExt cx="8477400" cy="514500"/>
          </a:xfrm>
        </p:grpSpPr>
        <p:sp>
          <p:nvSpPr>
            <p:cNvPr id="250" name="Google Shape;250;g3f9b5de7d18_0_669"/>
            <p:cNvSpPr/>
            <p:nvPr/>
          </p:nvSpPr>
          <p:spPr>
            <a:xfrm>
              <a:off x="328613" y="3524250"/>
              <a:ext cx="8477400" cy="514500"/>
            </a:xfrm>
            <a:prstGeom prst="roundRect">
              <a:avLst>
                <a:gd fmla="val 7407" name="adj"/>
              </a:avLst>
            </a:prstGeom>
            <a:solidFill>
              <a:srgbClr val="E0F7FC"/>
            </a:solidFill>
            <a:ln cap="flat" cmpd="sng" w="9525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3f9b5de7d18_0_669"/>
            <p:cNvSpPr/>
            <p:nvPr/>
          </p:nvSpPr>
          <p:spPr>
            <a:xfrm>
              <a:off x="485775" y="3624263"/>
              <a:ext cx="66600" cy="66600"/>
            </a:xfrm>
            <a:prstGeom prst="ellipse">
              <a:avLst/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g3f9b5de7d18_0_669"/>
            <p:cNvSpPr txBox="1"/>
            <p:nvPr/>
          </p:nvSpPr>
          <p:spPr>
            <a:xfrm>
              <a:off x="661988" y="3524250"/>
              <a:ext cx="80010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Nessuna finestra attraversa un cambio di protocollo o un ciclo scartato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g3f9b5de7d18_0_669"/>
            <p:cNvSpPr/>
            <p:nvPr/>
          </p:nvSpPr>
          <p:spPr>
            <a:xfrm>
              <a:off x="485775" y="3881438"/>
              <a:ext cx="66600" cy="66600"/>
            </a:xfrm>
            <a:prstGeom prst="ellipse">
              <a:avLst/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g3f9b5de7d18_0_669"/>
            <p:cNvSpPr txBox="1"/>
            <p:nvPr/>
          </p:nvSpPr>
          <p:spPr>
            <a:xfrm>
              <a:off x="661988" y="3781425"/>
              <a:ext cx="80010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B0042 e B0043 compaiono in entrambi i test: il confronto avviene sulle stesse celle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g3f9b5de7d18_0_669"/>
          <p:cNvSpPr txBox="1"/>
          <p:nvPr/>
        </p:nvSpPr>
        <p:spPr>
          <a:xfrm>
            <a:off x="357188" y="4792028"/>
            <a:ext cx="1508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9b5de7d18_0_669"/>
          <p:cNvSpPr txBox="1"/>
          <p:nvPr/>
        </p:nvSpPr>
        <p:spPr>
          <a:xfrm>
            <a:off x="3043238" y="4792028"/>
            <a:ext cx="3056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Metodologia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9b5de7d18_0_8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g3f9b5de7d18_0_848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188" y="25718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9b5de7d18_0_848"/>
          <p:cNvSpPr txBox="1"/>
          <p:nvPr/>
        </p:nvSpPr>
        <p:spPr>
          <a:xfrm>
            <a:off x="1619250" y="7620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Facoltà di Scienze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Google Shape;269;g3f9b5de7d18_0_848"/>
          <p:cNvSpPr txBox="1"/>
          <p:nvPr/>
        </p:nvSpPr>
        <p:spPr>
          <a:xfrm>
            <a:off x="323850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2D3D6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&gt; Metodologia</a:t>
            </a:r>
            <a:endParaRPr b="0" sz="1100">
              <a:solidFill>
                <a:srgbClr val="2D3D6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70" name="Google Shape;270;g3f9b5de7d18_0_848"/>
          <p:cNvSpPr txBox="1"/>
          <p:nvPr/>
        </p:nvSpPr>
        <p:spPr>
          <a:xfrm>
            <a:off x="323850" y="742950"/>
            <a:ext cx="847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200">
                <a:solidFill>
                  <a:srgbClr val="15335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Dalla misura grezza alla finestra temporale</a:t>
            </a:r>
            <a:endParaRPr b="0" sz="2200">
              <a:solidFill>
                <a:srgbClr val="15335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71" name="Google Shape;271;g3f9b5de7d18_0_848"/>
          <p:cNvGrpSpPr/>
          <p:nvPr/>
        </p:nvGrpSpPr>
        <p:grpSpPr>
          <a:xfrm>
            <a:off x="323850" y="1285875"/>
            <a:ext cx="3905400" cy="1447800"/>
            <a:chOff x="323850" y="1285875"/>
            <a:chExt cx="3905400" cy="1447800"/>
          </a:xfrm>
        </p:grpSpPr>
        <p:sp>
          <p:nvSpPr>
            <p:cNvPr id="272" name="Google Shape;272;g3f9b5de7d18_0_848"/>
            <p:cNvSpPr/>
            <p:nvPr/>
          </p:nvSpPr>
          <p:spPr>
            <a:xfrm>
              <a:off x="323850" y="1285875"/>
              <a:ext cx="3905400" cy="1447800"/>
            </a:xfrm>
            <a:prstGeom prst="roundRect">
              <a:avLst>
                <a:gd fmla="val 394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g3f9b5de7d18_0_848"/>
            <p:cNvSpPr txBox="1"/>
            <p:nvPr/>
          </p:nvSpPr>
          <p:spPr>
            <a:xfrm>
              <a:off x="457200" y="1400175"/>
              <a:ext cx="363870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12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Descrittori riferiti all'inizio vita</a:t>
              </a:r>
              <a:endParaRPr b="1" sz="11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Ogni variabile è divisa per il proprio valore sui primi cicli dello stesso blocco; le grandezze termiche diventano riscaldamento sopra la temperatura ambiente.</a:t>
              </a:r>
              <a:endParaRPr b="0" sz="9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4" name="Google Shape;274;g3f9b5de7d18_0_848"/>
          <p:cNvGrpSpPr/>
          <p:nvPr/>
        </p:nvGrpSpPr>
        <p:grpSpPr>
          <a:xfrm>
            <a:off x="323850" y="2886075"/>
            <a:ext cx="3905400" cy="1285800"/>
            <a:chOff x="323850" y="2886075"/>
            <a:chExt cx="3905400" cy="1285800"/>
          </a:xfrm>
        </p:grpSpPr>
        <p:sp>
          <p:nvSpPr>
            <p:cNvPr id="275" name="Google Shape;275;g3f9b5de7d18_0_848"/>
            <p:cNvSpPr/>
            <p:nvPr/>
          </p:nvSpPr>
          <p:spPr>
            <a:xfrm>
              <a:off x="323850" y="2886075"/>
              <a:ext cx="3905400" cy="12858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g3f9b5de7d18_0_848"/>
            <p:cNvSpPr txBox="1"/>
            <p:nvPr/>
          </p:nvSpPr>
          <p:spPr>
            <a:xfrm>
              <a:off x="457200" y="3000375"/>
              <a:ext cx="3638700" cy="10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12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Parametri di protocollo esclusi</a:t>
              </a:r>
              <a:endParaRPr b="1" sz="11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595959"/>
                  </a:solidFill>
                  <a:latin typeface="Inter"/>
                  <a:ea typeface="Inter"/>
                  <a:cs typeface="Inter"/>
                  <a:sym typeface="Inter"/>
                </a:rPr>
                <a:t>Corrente di scarica e temperatura ambiente sono scelte dello sperimentatore e costanti dentro un blocco: in addestramento assumono un solo valore.</a:t>
              </a:r>
              <a:endParaRPr b="0" sz="95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7" name="Google Shape;277;g3f9b5de7d18_0_848"/>
          <p:cNvGrpSpPr/>
          <p:nvPr/>
        </p:nvGrpSpPr>
        <p:grpSpPr>
          <a:xfrm>
            <a:off x="4686300" y="1285875"/>
            <a:ext cx="4134000" cy="2886000"/>
            <a:chOff x="4686300" y="1285875"/>
            <a:chExt cx="4134000" cy="2886000"/>
          </a:xfrm>
        </p:grpSpPr>
        <p:sp>
          <p:nvSpPr>
            <p:cNvPr id="278" name="Google Shape;278;g3f9b5de7d18_0_848"/>
            <p:cNvSpPr/>
            <p:nvPr/>
          </p:nvSpPr>
          <p:spPr>
            <a:xfrm>
              <a:off x="4686300" y="1285875"/>
              <a:ext cx="4134000" cy="2886000"/>
            </a:xfrm>
            <a:prstGeom prst="roundRect">
              <a:avLst>
                <a:gd fmla="val 2640" name="adj"/>
              </a:avLst>
            </a:prstGeom>
            <a:solidFill>
              <a:srgbClr val="F0F4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9" name="Google Shape;279;g3f9b5de7d18_0_848"/>
            <p:cNvGrpSpPr/>
            <p:nvPr/>
          </p:nvGrpSpPr>
          <p:grpSpPr>
            <a:xfrm>
              <a:off x="4800600" y="1381125"/>
              <a:ext cx="3905400" cy="428700"/>
              <a:chOff x="4800600" y="1381125"/>
              <a:chExt cx="3905400" cy="428700"/>
            </a:xfrm>
          </p:grpSpPr>
          <p:sp>
            <p:nvSpPr>
              <p:cNvPr id="280" name="Google Shape;280;g3f9b5de7d18_0_848"/>
              <p:cNvSpPr/>
              <p:nvPr/>
            </p:nvSpPr>
            <p:spPr>
              <a:xfrm>
                <a:off x="4800600" y="1381125"/>
                <a:ext cx="39054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g3f9b5de7d18_0_848"/>
              <p:cNvSpPr txBox="1"/>
              <p:nvPr/>
            </p:nvSpPr>
            <p:spPr>
              <a:xfrm>
                <a:off x="4895850" y="1381125"/>
                <a:ext cx="3714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0D2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1. </a:t>
                </a:r>
                <a:r>
                  <a:rPr b="1" lang="it" sz="105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File .mat NASA</a:t>
                </a:r>
                <a:r>
                  <a:rPr lang="it">
                    <a:latin typeface="Inter"/>
                    <a:ea typeface="Inter"/>
                    <a:cs typeface="Inter"/>
                    <a:sym typeface="Inter"/>
                  </a:rPr>
                  <a:t> — </a:t>
                </a:r>
                <a:r>
                  <a:rPr b="0" lang="it" sz="9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dati grezzi per cella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82" name="Google Shape;282;g3f9b5de7d18_0_8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15125" y="1809750"/>
              <a:ext cx="76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3" name="Google Shape;283;g3f9b5de7d18_0_848"/>
            <p:cNvGrpSpPr/>
            <p:nvPr/>
          </p:nvGrpSpPr>
          <p:grpSpPr>
            <a:xfrm>
              <a:off x="4800600" y="1952625"/>
              <a:ext cx="3905400" cy="428700"/>
              <a:chOff x="4800600" y="1952625"/>
              <a:chExt cx="3905400" cy="428700"/>
            </a:xfrm>
          </p:grpSpPr>
          <p:sp>
            <p:nvSpPr>
              <p:cNvPr id="284" name="Google Shape;284;g3f9b5de7d18_0_848"/>
              <p:cNvSpPr/>
              <p:nvPr/>
            </p:nvSpPr>
            <p:spPr>
              <a:xfrm>
                <a:off x="4800600" y="1952625"/>
                <a:ext cx="39054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g3f9b5de7d18_0_848"/>
              <p:cNvSpPr txBox="1"/>
              <p:nvPr/>
            </p:nvSpPr>
            <p:spPr>
              <a:xfrm>
                <a:off x="4895850" y="1952625"/>
                <a:ext cx="3714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0D2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2. </a:t>
                </a:r>
                <a:r>
                  <a:rPr b="1" lang="it" sz="105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Cicli di scarica</a:t>
                </a:r>
                <a:r>
                  <a:rPr lang="it">
                    <a:latin typeface="Inter"/>
                    <a:ea typeface="Inter"/>
                    <a:cs typeface="Inter"/>
                    <a:sym typeface="Inter"/>
                  </a:rPr>
                  <a:t> — </a:t>
                </a:r>
                <a:r>
                  <a:rPr b="0" lang="it" sz="9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estrazione e marcatura dei cicli non rappresentativi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86" name="Google Shape;286;g3f9b5de7d18_0_8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15125" y="2381250"/>
              <a:ext cx="76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7" name="Google Shape;287;g3f9b5de7d18_0_848"/>
            <p:cNvGrpSpPr/>
            <p:nvPr/>
          </p:nvGrpSpPr>
          <p:grpSpPr>
            <a:xfrm>
              <a:off x="4800600" y="2524125"/>
              <a:ext cx="3905400" cy="428700"/>
              <a:chOff x="4800600" y="2524125"/>
              <a:chExt cx="3905400" cy="428700"/>
            </a:xfrm>
          </p:grpSpPr>
          <p:sp>
            <p:nvSpPr>
              <p:cNvPr id="288" name="Google Shape;288;g3f9b5de7d18_0_848"/>
              <p:cNvSpPr/>
              <p:nvPr/>
            </p:nvSpPr>
            <p:spPr>
              <a:xfrm>
                <a:off x="4800600" y="2524125"/>
                <a:ext cx="39054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g3f9b5de7d18_0_848"/>
              <p:cNvSpPr txBox="1"/>
              <p:nvPr/>
            </p:nvSpPr>
            <p:spPr>
              <a:xfrm>
                <a:off x="4895850" y="2524125"/>
                <a:ext cx="3714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0D2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3. </a:t>
                </a:r>
                <a:r>
                  <a:rPr b="1" lang="it" sz="105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Blocchi di protocollo</a:t>
                </a:r>
                <a:r>
                  <a:rPr lang="it">
                    <a:latin typeface="Inter"/>
                    <a:ea typeface="Inter"/>
                    <a:cs typeface="Inter"/>
                    <a:sym typeface="Inter"/>
                  </a:rPr>
                  <a:t> — </a:t>
                </a:r>
                <a:r>
                  <a:rPr b="0" lang="it" sz="9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tratti a temperatura e corrente costanti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90" name="Google Shape;290;g3f9b5de7d18_0_8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15125" y="2952750"/>
              <a:ext cx="76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1" name="Google Shape;291;g3f9b5de7d18_0_848"/>
            <p:cNvGrpSpPr/>
            <p:nvPr/>
          </p:nvGrpSpPr>
          <p:grpSpPr>
            <a:xfrm>
              <a:off x="4800600" y="3095625"/>
              <a:ext cx="3905400" cy="428700"/>
              <a:chOff x="4800600" y="3095625"/>
              <a:chExt cx="3905400" cy="428700"/>
            </a:xfrm>
          </p:grpSpPr>
          <p:sp>
            <p:nvSpPr>
              <p:cNvPr id="292" name="Google Shape;292;g3f9b5de7d18_0_848"/>
              <p:cNvSpPr/>
              <p:nvPr/>
            </p:nvSpPr>
            <p:spPr>
              <a:xfrm>
                <a:off x="4800600" y="3095625"/>
                <a:ext cx="39054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g3f9b5de7d18_0_848"/>
              <p:cNvSpPr txBox="1"/>
              <p:nvPr/>
            </p:nvSpPr>
            <p:spPr>
              <a:xfrm>
                <a:off x="4895850" y="3095625"/>
                <a:ext cx="3714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0D2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4. </a:t>
                </a:r>
                <a:r>
                  <a:rPr b="1" lang="it" sz="105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Descrittori relativi</a:t>
                </a:r>
                <a:r>
                  <a:rPr lang="it">
                    <a:latin typeface="Inter"/>
                    <a:ea typeface="Inter"/>
                    <a:cs typeface="Inter"/>
                    <a:sym typeface="Inter"/>
                  </a:rPr>
                  <a:t> — </a:t>
                </a:r>
                <a:r>
                  <a:rPr b="0" lang="it" sz="900">
                    <a:solidFill>
                      <a:srgbClr val="595959"/>
                    </a:solidFill>
                    <a:latin typeface="Inter"/>
                    <a:ea typeface="Inter"/>
                    <a:cs typeface="Inter"/>
                    <a:sym typeface="Inter"/>
                  </a:rPr>
                  <a:t>10 variabili riferite all'inizio vita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pic>
          <p:nvPicPr>
            <p:cNvPr id="294" name="Google Shape;294;g3f9b5de7d18_0_84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715125" y="3524250"/>
              <a:ext cx="76200" cy="152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95" name="Google Shape;295;g3f9b5de7d18_0_848"/>
            <p:cNvGrpSpPr/>
            <p:nvPr/>
          </p:nvGrpSpPr>
          <p:grpSpPr>
            <a:xfrm>
              <a:off x="4800600" y="3667125"/>
              <a:ext cx="3905400" cy="428700"/>
              <a:chOff x="4800600" y="3667125"/>
              <a:chExt cx="3905400" cy="428700"/>
            </a:xfrm>
          </p:grpSpPr>
          <p:sp>
            <p:nvSpPr>
              <p:cNvPr id="296" name="Google Shape;296;g3f9b5de7d18_0_848"/>
              <p:cNvSpPr/>
              <p:nvPr/>
            </p:nvSpPr>
            <p:spPr>
              <a:xfrm>
                <a:off x="4800600" y="3667125"/>
                <a:ext cx="3905400" cy="428700"/>
              </a:xfrm>
              <a:prstGeom prst="roundRect">
                <a:avLst>
                  <a:gd fmla="val 8888" name="adj"/>
                </a:avLst>
              </a:prstGeom>
              <a:solidFill>
                <a:srgbClr val="15335B"/>
              </a:solidFill>
              <a:ln cap="flat" cmpd="sng" w="14300">
                <a:solidFill>
                  <a:srgbClr val="00D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g3f9b5de7d18_0_848"/>
              <p:cNvSpPr txBox="1"/>
              <p:nvPr/>
            </p:nvSpPr>
            <p:spPr>
              <a:xfrm>
                <a:off x="4895850" y="3667125"/>
                <a:ext cx="3714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1100">
                    <a:solidFill>
                      <a:srgbClr val="00D2FF"/>
                    </a:solidFill>
                    <a:latin typeface="Inter ExtraBold"/>
                    <a:ea typeface="Inter ExtraBold"/>
                    <a:cs typeface="Inter ExtraBold"/>
                    <a:sym typeface="Inter ExtraBold"/>
                  </a:rPr>
                  <a:t>5. </a:t>
                </a:r>
                <a:r>
                  <a:rPr b="1" lang="it" sz="105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Finestre di 10 cicli</a:t>
                </a:r>
                <a:r>
                  <a:rPr lang="it">
                    <a:latin typeface="Inter"/>
                    <a:ea typeface="Inter"/>
                    <a:cs typeface="Inter"/>
                    <a:sym typeface="Inter"/>
                  </a:rPr>
                  <a:t> — </a:t>
                </a:r>
                <a:r>
                  <a:rPr b="0" lang="it" sz="900">
                    <a:solidFill>
                      <a:srgbClr val="A5F3FC"/>
                    </a:solidFill>
                    <a:latin typeface="Inter"/>
                    <a:ea typeface="Inter"/>
                    <a:cs typeface="Inter"/>
                    <a:sym typeface="Inter"/>
                  </a:rPr>
                  <a:t>contigue, mai a cavallo di un confine</a:t>
                </a:r>
                <a:endParaRPr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98" name="Google Shape;298;g3f9b5de7d18_0_848"/>
          <p:cNvSpPr txBox="1"/>
          <p:nvPr/>
        </p:nvSpPr>
        <p:spPr>
          <a:xfrm>
            <a:off x="323850" y="47910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SC/0081 Deep Learning</a:t>
            </a:r>
            <a:endParaRPr b="0" sz="8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g3f9b5de7d18_0_848"/>
          <p:cNvSpPr txBox="1"/>
          <p:nvPr/>
        </p:nvSpPr>
        <p:spPr>
          <a:xfrm>
            <a:off x="3048000" y="4791075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9b5de7d18_0_99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5" name="Google Shape;305;g3f9b5de7d18_0_994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188" y="25718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f9b5de7d18_0_994"/>
          <p:cNvSpPr txBox="1"/>
          <p:nvPr/>
        </p:nvSpPr>
        <p:spPr>
          <a:xfrm>
            <a:off x="1619250" y="7620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Facoltà di Scienze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g3f9b5de7d18_0_994"/>
          <p:cNvSpPr txBox="1"/>
          <p:nvPr/>
        </p:nvSpPr>
        <p:spPr>
          <a:xfrm>
            <a:off x="323850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100">
                <a:solidFill>
                  <a:srgbClr val="2D3D6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&gt; Metodologia</a:t>
            </a:r>
            <a:endParaRPr b="0" sz="1100">
              <a:solidFill>
                <a:srgbClr val="2D3D6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08" name="Google Shape;308;g3f9b5de7d18_0_994"/>
          <p:cNvSpPr txBox="1"/>
          <p:nvPr/>
        </p:nvSpPr>
        <p:spPr>
          <a:xfrm>
            <a:off x="323850" y="742950"/>
            <a:ext cx="847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200">
                <a:solidFill>
                  <a:srgbClr val="15335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Modelli e protocollo sperimentale</a:t>
            </a:r>
            <a:endParaRPr b="0" sz="2200">
              <a:solidFill>
                <a:srgbClr val="15335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09" name="Google Shape;309;g3f9b5de7d18_0_994"/>
          <p:cNvSpPr/>
          <p:nvPr/>
        </p:nvSpPr>
        <p:spPr>
          <a:xfrm>
            <a:off x="323850" y="1257300"/>
            <a:ext cx="40959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9b5de7d18_0_994"/>
          <p:cNvSpPr txBox="1"/>
          <p:nvPr/>
        </p:nvSpPr>
        <p:spPr>
          <a:xfrm>
            <a:off x="514350" y="1447800"/>
            <a:ext cx="37149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00D2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Modelli a confronto</a:t>
            </a:r>
            <a:endParaRPr b="0" sz="1400">
              <a:solidFill>
                <a:srgbClr val="00D2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Baseline di persistenza</a:t>
            </a: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ripete l'ultimo SoH osservato nella finestra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Baseline a retta</a:t>
            </a: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minimi quadrati sui 10 valori della finestra, prolungata di un ciclo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MLP</a:t>
            </a: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rete non ricorrente, termine di controllo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SimpleRNN, LSTM, GRU</a:t>
            </a: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architetture sequenziali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g3f9b5de7d18_0_994"/>
          <p:cNvSpPr/>
          <p:nvPr/>
        </p:nvSpPr>
        <p:spPr>
          <a:xfrm>
            <a:off x="4724400" y="1257300"/>
            <a:ext cx="40959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f9b5de7d18_0_994"/>
          <p:cNvSpPr txBox="1"/>
          <p:nvPr/>
        </p:nvSpPr>
        <p:spPr>
          <a:xfrm>
            <a:off x="4914900" y="1447800"/>
            <a:ext cx="37149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15335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Configurazione</a:t>
            </a:r>
            <a:endParaRPr b="0" sz="1400">
              <a:solidFill>
                <a:srgbClr val="15335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64 unità ricorrenti, strato denso 32, dropout 0,2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Adam, learning rate 0,001, batch 32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Massimo 150 epoche, early stopping con pazienza 20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Loss MSE</a:t>
            </a:r>
            <a:r>
              <a:rPr lang="it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metriche MAE, RMSE e skill score</a:t>
            </a:r>
            <a:endParaRPr sz="10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g3f9b5de7d18_0_994"/>
          <p:cNvSpPr/>
          <p:nvPr/>
        </p:nvSpPr>
        <p:spPr>
          <a:xfrm>
            <a:off x="323850" y="3771900"/>
            <a:ext cx="8496300" cy="800100"/>
          </a:xfrm>
          <a:prstGeom prst="roundRect">
            <a:avLst>
              <a:gd fmla="val 7142" name="adj"/>
            </a:avLst>
          </a:prstGeom>
          <a:solidFill>
            <a:srgbClr val="F0F9FF"/>
          </a:solidFill>
          <a:ln cap="flat" cmpd="sng" w="14300">
            <a:solidFill>
              <a:srgbClr val="B9E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g3f9b5de7d18_0_9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100" y="3924300"/>
            <a:ext cx="381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9b5de7d18_0_994"/>
          <p:cNvSpPr txBox="1"/>
          <p:nvPr/>
        </p:nvSpPr>
        <p:spPr>
          <a:xfrm>
            <a:off x="609600" y="3886200"/>
            <a:ext cx="8020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10 ripetizioni per architettura.</a:t>
            </a:r>
            <a:r>
              <a:rPr b="0" lang="it" sz="10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Risultati come mediana e intervallo interquartile, mai come esecuzione singola. Differenze valutate con il test dei ranghi con segno sulle ripetizioni appaiate.</a:t>
            </a:r>
            <a:endParaRPr b="0" sz="1050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16" name="Google Shape;316;g3f9b5de7d18_0_994"/>
          <p:cNvSpPr txBox="1"/>
          <p:nvPr/>
        </p:nvSpPr>
        <p:spPr>
          <a:xfrm>
            <a:off x="323850" y="47910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SC/0081 Deep Learning</a:t>
            </a:r>
            <a:endParaRPr b="0" sz="8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g3f9b5de7d18_0_994"/>
          <p:cNvSpPr txBox="1"/>
          <p:nvPr/>
        </p:nvSpPr>
        <p:spPr>
          <a:xfrm>
            <a:off x="3048000" y="4791075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Risultati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9b5de7d18_0_11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g3f9b5de7d18_0_1152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188" y="25718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f9b5de7d18_0_1152"/>
          <p:cNvSpPr txBox="1"/>
          <p:nvPr/>
        </p:nvSpPr>
        <p:spPr>
          <a:xfrm>
            <a:off x="1619250" y="7620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Facoltà di Scienze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0" name="Google Shape;330;g3f9b5de7d18_0_1152"/>
          <p:cNvSpPr txBox="1"/>
          <p:nvPr/>
        </p:nvSpPr>
        <p:spPr>
          <a:xfrm>
            <a:off x="323850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&gt; Risultati</a:t>
            </a:r>
            <a:endParaRPr b="0" sz="1200">
              <a:solidFill>
                <a:srgbClr val="2D3D6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331" name="Google Shape;331;g3f9b5de7d18_0_1152"/>
          <p:cNvSpPr txBox="1"/>
          <p:nvPr/>
        </p:nvSpPr>
        <p:spPr>
          <a:xfrm>
            <a:off x="323850" y="742950"/>
            <a:ext cx="847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200">
                <a:solidFill>
                  <a:srgbClr val="15335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D1 — Confronto fra architetture</a:t>
            </a:r>
            <a:endParaRPr b="0" sz="2200">
              <a:solidFill>
                <a:srgbClr val="15335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32" name="Google Shape;332;g3f9b5de7d18_0_1152"/>
          <p:cNvSpPr/>
          <p:nvPr/>
        </p:nvSpPr>
        <p:spPr>
          <a:xfrm>
            <a:off x="323850" y="1257300"/>
            <a:ext cx="39054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3" name="Google Shape;333;g3f9b5de7d18_0_1152"/>
          <p:cNvGrpSpPr/>
          <p:nvPr/>
        </p:nvGrpSpPr>
        <p:grpSpPr>
          <a:xfrm>
            <a:off x="514350" y="1447800"/>
            <a:ext cx="3524400" cy="2047950"/>
            <a:chOff x="514350" y="1447800"/>
            <a:chExt cx="3524400" cy="2047950"/>
          </a:xfrm>
        </p:grpSpPr>
        <p:sp>
          <p:nvSpPr>
            <p:cNvPr id="334" name="Google Shape;334;g3f9b5de7d18_0_1152"/>
            <p:cNvSpPr txBox="1"/>
            <p:nvPr/>
          </p:nvSpPr>
          <p:spPr>
            <a:xfrm>
              <a:off x="514350" y="1447800"/>
              <a:ext cx="3524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01.</a:t>
              </a:r>
              <a:r>
                <a:rPr lang="it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it" sz="10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Nessuna rete supera la persistenza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 baseline è 2,4 volte più accurata del migliore modello neurale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5" name="Google Shape;335;g3f9b5de7d18_0_1152"/>
            <p:cNvSpPr txBox="1"/>
            <p:nvPr/>
          </p:nvSpPr>
          <p:spPr>
            <a:xfrm>
              <a:off x="514350" y="211455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02.</a:t>
              </a:r>
              <a:r>
                <a:rPr lang="it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it" sz="10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Le ricorrenti non sono distinguibili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Il test appaiato separa solo l'MLP: fra SimpleRNN, GRU e LSTM la differenza è rumore di inizializzazione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6" name="Google Shape;336;g3f9b5de7d18_0_1152"/>
            <p:cNvSpPr txBox="1"/>
            <p:nvPr/>
          </p:nvSpPr>
          <p:spPr>
            <a:xfrm>
              <a:off x="514350" y="2876550"/>
              <a:ext cx="35244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100">
                  <a:solidFill>
                    <a:srgbClr val="00D2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03.</a:t>
              </a:r>
              <a:r>
                <a:rPr lang="it"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1" lang="it" sz="10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Nemmeno la retta la supera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Usa tutta la finestra come le reti: a un ciclo la pendenza recente è rumore amplificato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37" name="Google Shape;337;g3f9b5de7d18_0_1152"/>
          <p:cNvSpPr/>
          <p:nvPr/>
        </p:nvSpPr>
        <p:spPr>
          <a:xfrm>
            <a:off x="4419600" y="1257300"/>
            <a:ext cx="44007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9b5de7d18_0_1152"/>
          <p:cNvSpPr txBox="1"/>
          <p:nvPr/>
        </p:nvSpPr>
        <p:spPr>
          <a:xfrm>
            <a:off x="4610100" y="1381125"/>
            <a:ext cx="4019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00D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mediana su 10 ripetizioni, test in distribuzione</a:t>
            </a:r>
            <a:endParaRPr b="0" sz="1000">
              <a:solidFill>
                <a:srgbClr val="00D2F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339" name="Google Shape;339;g3f9b5de7d18_0_1152"/>
          <p:cNvCxnSpPr/>
          <p:nvPr/>
        </p:nvCxnSpPr>
        <p:spPr>
          <a:xfrm>
            <a:off x="4419600" y="1638300"/>
            <a:ext cx="4400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g3f9b5de7d18_0_1152"/>
          <p:cNvSpPr txBox="1"/>
          <p:nvPr/>
        </p:nvSpPr>
        <p:spPr>
          <a:xfrm>
            <a:off x="4610100" y="1685925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endParaRPr b="1" sz="100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g3f9b5de7d18_0_1152"/>
          <p:cNvSpPr txBox="1"/>
          <p:nvPr/>
        </p:nvSpPr>
        <p:spPr>
          <a:xfrm>
            <a:off x="6419850" y="1685925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RMSE</a:t>
            </a:r>
            <a:endParaRPr b="1" sz="100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g3f9b5de7d18_0_1152"/>
          <p:cNvSpPr txBox="1"/>
          <p:nvPr/>
        </p:nvSpPr>
        <p:spPr>
          <a:xfrm>
            <a:off x="7467600" y="1685925"/>
            <a:ext cx="11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Skill score</a:t>
            </a:r>
            <a:endParaRPr b="1" sz="100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g3f9b5de7d18_0_1152"/>
          <p:cNvSpPr/>
          <p:nvPr/>
        </p:nvSpPr>
        <p:spPr>
          <a:xfrm>
            <a:off x="4429125" y="1971675"/>
            <a:ext cx="4381500" cy="266700"/>
          </a:xfrm>
          <a:prstGeom prst="rect">
            <a:avLst/>
          </a:prstGeom>
          <a:solidFill>
            <a:srgbClr val="00D2FF">
              <a:alpha val="12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9b5de7d18_0_1152"/>
          <p:cNvSpPr txBox="1"/>
          <p:nvPr/>
        </p:nvSpPr>
        <p:spPr>
          <a:xfrm>
            <a:off x="4610100" y="1971675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Baseline di persistenza ★</a:t>
            </a:r>
            <a:endParaRPr b="1" sz="100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g3f9b5de7d18_0_1152"/>
          <p:cNvSpPr txBox="1"/>
          <p:nvPr/>
        </p:nvSpPr>
        <p:spPr>
          <a:xfrm>
            <a:off x="6419850" y="1971675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0,0110</a:t>
            </a:r>
            <a:endParaRPr b="1" sz="100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g3f9b5de7d18_0_1152"/>
          <p:cNvSpPr txBox="1"/>
          <p:nvPr/>
        </p:nvSpPr>
        <p:spPr>
          <a:xfrm>
            <a:off x="7467600" y="1971675"/>
            <a:ext cx="11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1" sz="100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47" name="Google Shape;347;g3f9b5de7d18_0_1152"/>
          <p:cNvCxnSpPr/>
          <p:nvPr/>
        </p:nvCxnSpPr>
        <p:spPr>
          <a:xfrm>
            <a:off x="4419600" y="2257425"/>
            <a:ext cx="4400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g3f9b5de7d18_0_1152"/>
          <p:cNvSpPr txBox="1"/>
          <p:nvPr/>
        </p:nvSpPr>
        <p:spPr>
          <a:xfrm>
            <a:off x="4610100" y="22669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Baseline a retta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g3f9b5de7d18_0_1152"/>
          <p:cNvSpPr txBox="1"/>
          <p:nvPr/>
        </p:nvSpPr>
        <p:spPr>
          <a:xfrm>
            <a:off x="6419850" y="2266950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0,0132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g3f9b5de7d18_0_1152"/>
          <p:cNvSpPr txBox="1"/>
          <p:nvPr/>
        </p:nvSpPr>
        <p:spPr>
          <a:xfrm>
            <a:off x="7467600" y="2266950"/>
            <a:ext cx="11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−0,44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1" name="Google Shape;351;g3f9b5de7d18_0_1152"/>
          <p:cNvCxnSpPr/>
          <p:nvPr/>
        </p:nvCxnSpPr>
        <p:spPr>
          <a:xfrm>
            <a:off x="4419600" y="2543175"/>
            <a:ext cx="4400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g3f9b5de7d18_0_1152"/>
          <p:cNvSpPr txBox="1"/>
          <p:nvPr/>
        </p:nvSpPr>
        <p:spPr>
          <a:xfrm>
            <a:off x="4610100" y="25527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SimpleRNN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g3f9b5de7d18_0_1152"/>
          <p:cNvSpPr txBox="1"/>
          <p:nvPr/>
        </p:nvSpPr>
        <p:spPr>
          <a:xfrm>
            <a:off x="6419850" y="2552700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0,0268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g3f9b5de7d18_0_1152"/>
          <p:cNvSpPr txBox="1"/>
          <p:nvPr/>
        </p:nvSpPr>
        <p:spPr>
          <a:xfrm>
            <a:off x="7467600" y="2552700"/>
            <a:ext cx="11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−5,3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5" name="Google Shape;355;g3f9b5de7d18_0_1152"/>
          <p:cNvCxnSpPr/>
          <p:nvPr/>
        </p:nvCxnSpPr>
        <p:spPr>
          <a:xfrm>
            <a:off x="4419600" y="2828925"/>
            <a:ext cx="4400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f9b5de7d18_0_1152"/>
          <p:cNvSpPr txBox="1"/>
          <p:nvPr/>
        </p:nvSpPr>
        <p:spPr>
          <a:xfrm>
            <a:off x="4610100" y="28384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GRU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g3f9b5de7d18_0_1152"/>
          <p:cNvSpPr txBox="1"/>
          <p:nvPr/>
        </p:nvSpPr>
        <p:spPr>
          <a:xfrm>
            <a:off x="6419850" y="2838450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0,0331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g3f9b5de7d18_0_1152"/>
          <p:cNvSpPr txBox="1"/>
          <p:nvPr/>
        </p:nvSpPr>
        <p:spPr>
          <a:xfrm>
            <a:off x="7467600" y="2838450"/>
            <a:ext cx="11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−8,0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9" name="Google Shape;359;g3f9b5de7d18_0_1152"/>
          <p:cNvCxnSpPr/>
          <p:nvPr/>
        </p:nvCxnSpPr>
        <p:spPr>
          <a:xfrm>
            <a:off x="4419600" y="3114675"/>
            <a:ext cx="4400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g3f9b5de7d18_0_1152"/>
          <p:cNvSpPr txBox="1"/>
          <p:nvPr/>
        </p:nvSpPr>
        <p:spPr>
          <a:xfrm>
            <a:off x="4610100" y="31242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g3f9b5de7d18_0_1152"/>
          <p:cNvSpPr txBox="1"/>
          <p:nvPr/>
        </p:nvSpPr>
        <p:spPr>
          <a:xfrm>
            <a:off x="6419850" y="3124200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0,0458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g3f9b5de7d18_0_1152"/>
          <p:cNvSpPr txBox="1"/>
          <p:nvPr/>
        </p:nvSpPr>
        <p:spPr>
          <a:xfrm>
            <a:off x="7467600" y="3124200"/>
            <a:ext cx="11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−16,3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63" name="Google Shape;363;g3f9b5de7d18_0_1152"/>
          <p:cNvCxnSpPr/>
          <p:nvPr/>
        </p:nvCxnSpPr>
        <p:spPr>
          <a:xfrm>
            <a:off x="4419600" y="3400425"/>
            <a:ext cx="44007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g3f9b5de7d18_0_1152"/>
          <p:cNvSpPr txBox="1"/>
          <p:nvPr/>
        </p:nvSpPr>
        <p:spPr>
          <a:xfrm>
            <a:off x="4610100" y="34099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MLP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g3f9b5de7d18_0_1152"/>
          <p:cNvSpPr txBox="1"/>
          <p:nvPr/>
        </p:nvSpPr>
        <p:spPr>
          <a:xfrm>
            <a:off x="6419850" y="340995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0,1021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g3f9b5de7d18_0_1152"/>
          <p:cNvSpPr txBox="1"/>
          <p:nvPr/>
        </p:nvSpPr>
        <p:spPr>
          <a:xfrm>
            <a:off x="7467600" y="3409950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−85,0</a:t>
            </a:r>
            <a:endParaRPr b="0" sz="10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g3f9b5de7d18_0_1152"/>
          <p:cNvSpPr/>
          <p:nvPr/>
        </p:nvSpPr>
        <p:spPr>
          <a:xfrm>
            <a:off x="323850" y="3771900"/>
            <a:ext cx="8496300" cy="800100"/>
          </a:xfrm>
          <a:prstGeom prst="roundRect">
            <a:avLst>
              <a:gd fmla="val 7142" name="adj"/>
            </a:avLst>
          </a:prstGeom>
          <a:solidFill>
            <a:srgbClr val="F0F9FF"/>
          </a:solidFill>
          <a:ln cap="flat" cmpd="sng" w="14300">
            <a:solidFill>
              <a:srgbClr val="B9E6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9b5de7d18_0_1152"/>
          <p:cNvSpPr/>
          <p:nvPr/>
        </p:nvSpPr>
        <p:spPr>
          <a:xfrm>
            <a:off x="419100" y="3924300"/>
            <a:ext cx="38100" cy="4953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9b5de7d18_0_1152"/>
          <p:cNvSpPr txBox="1"/>
          <p:nvPr/>
        </p:nvSpPr>
        <p:spPr>
          <a:xfrm>
            <a:off x="609600" y="3886200"/>
            <a:ext cx="8020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rPr>
              <a:t>Ablazione:</a:t>
            </a:r>
            <a:r>
              <a:rPr b="0" lang="it" sz="100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togliendo il SoH passato dagli ingressi l'errore peggiora del 145%, togliendo la durata di scarica del 66%</a:t>
            </a:r>
            <a:endParaRPr b="1" sz="1000">
              <a:solidFill>
                <a:srgbClr val="00D2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g3f9b5de7d18_0_1152"/>
          <p:cNvSpPr txBox="1"/>
          <p:nvPr/>
        </p:nvSpPr>
        <p:spPr>
          <a:xfrm>
            <a:off x="323850" y="4791075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SC/0081 Deep Learning</a:t>
            </a:r>
            <a:endParaRPr b="0" sz="8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1" name="Google Shape;371;g3f9b5de7d18_0_1152"/>
          <p:cNvSpPr txBox="1"/>
          <p:nvPr/>
        </p:nvSpPr>
        <p:spPr>
          <a:xfrm>
            <a:off x="3048000" y="4791075"/>
            <a:ext cx="304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Inter"/>
                <a:ea typeface="Inter"/>
                <a:cs typeface="Inter"/>
                <a:sym typeface="Inter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9b5de7d18_0_13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7" name="Google Shape;377;g3f9b5de7d18_0_1334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f9b5de7d18_0_1334"/>
          <p:cNvSpPr txBox="1"/>
          <p:nvPr/>
        </p:nvSpPr>
        <p:spPr>
          <a:xfrm>
            <a:off x="1622755" y="762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3f9b5de7d18_0_1334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Risultati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3f9b5de7d18_0_1334"/>
          <p:cNvSpPr txBox="1"/>
          <p:nvPr/>
        </p:nvSpPr>
        <p:spPr>
          <a:xfrm>
            <a:off x="328613" y="7810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D3 — Robustezza fuori distribuzione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9b5de7d18_0_1334"/>
          <p:cNvSpPr/>
          <p:nvPr/>
        </p:nvSpPr>
        <p:spPr>
          <a:xfrm>
            <a:off x="333375" y="1219200"/>
            <a:ext cx="8477400" cy="324000"/>
          </a:xfrm>
          <a:prstGeom prst="roundRect">
            <a:avLst>
              <a:gd fmla="val 11764" name="adj"/>
            </a:avLst>
          </a:prstGeom>
          <a:solidFill>
            <a:srgbClr val="F0F4F8"/>
          </a:solidFill>
          <a:ln cap="flat" cmpd="sng" w="9525">
            <a:solidFill>
              <a:srgbClr val="D2D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9b5de7d18_0_1334"/>
          <p:cNvSpPr/>
          <p:nvPr/>
        </p:nvSpPr>
        <p:spPr>
          <a:xfrm>
            <a:off x="461963" y="1347825"/>
            <a:ext cx="66600" cy="66600"/>
          </a:xfrm>
          <a:prstGeom prst="ellipse">
            <a:avLst/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9b5de7d18_0_1334"/>
          <p:cNvSpPr txBox="1"/>
          <p:nvPr/>
        </p:nvSpPr>
        <p:spPr>
          <a:xfrm>
            <a:off x="628650" y="1238250"/>
            <a:ext cx="80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Confronto sulle stesse celle: </a:t>
            </a:r>
            <a:r>
              <a:rPr b="0" lang="it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B0042 e B0043 prima e dopo il cambio di protocollo — 50 finestre in distribuzione, 30 fuori</a:t>
            </a:r>
            <a:endParaRPr b="1" sz="95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g3f9b5de7d18_0_1334"/>
          <p:cNvSpPr/>
          <p:nvPr/>
        </p:nvSpPr>
        <p:spPr>
          <a:xfrm>
            <a:off x="333375" y="1657350"/>
            <a:ext cx="39054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f9b5de7d18_0_1334"/>
          <p:cNvSpPr txBox="1"/>
          <p:nvPr/>
        </p:nvSpPr>
        <p:spPr>
          <a:xfrm>
            <a:off x="514350" y="1771650"/>
            <a:ext cx="354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01. </a:t>
            </a:r>
            <a:r>
              <a:rPr b="1" lang="it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L'RMSE grezzo inganna</a:t>
            </a:r>
            <a:endParaRPr b="1" sz="14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it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L'RMSE fuori distribuzione è più basso perché l'insieme è più facile: anche la persistenza scende, da 0,0110 a 0,0080 </a:t>
            </a:r>
            <a:endParaRPr b="0" sz="9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9b5de7d18_0_1334"/>
          <p:cNvSpPr txBox="1"/>
          <p:nvPr/>
        </p:nvSpPr>
        <p:spPr>
          <a:xfrm>
            <a:off x="514350" y="2476500"/>
            <a:ext cx="35433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02. </a:t>
            </a:r>
            <a:r>
              <a:rPr b="1" lang="it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Il confronto va fatto in skill score</a:t>
            </a:r>
            <a:endParaRPr b="1" sz="14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cioè rispetto alla baseline calcolata sullo stesso insieme; la tabella prodotta segnala quando le due letture discordano</a:t>
            </a:r>
            <a:endParaRPr b="0" sz="9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9b5de7d18_0_1334"/>
          <p:cNvSpPr txBox="1"/>
          <p:nvPr/>
        </p:nvSpPr>
        <p:spPr>
          <a:xfrm>
            <a:off x="514350" y="3257550"/>
            <a:ext cx="35433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03. </a:t>
            </a:r>
            <a:r>
              <a:rPr b="1" lang="it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La fragilità cresce con la capacità</a:t>
            </a:r>
            <a:endParaRPr b="1" sz="1400">
              <a:solidFill>
                <a:srgbClr val="00D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il modello più semplice regge, l'MLP crolla da −44,8 a −132,9</a:t>
            </a:r>
            <a:endParaRPr b="0" sz="9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f9b5de7d18_0_1334"/>
          <p:cNvSpPr/>
          <p:nvPr/>
        </p:nvSpPr>
        <p:spPr>
          <a:xfrm>
            <a:off x="4429125" y="1657350"/>
            <a:ext cx="43815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g3f9b5de7d18_0_1334"/>
          <p:cNvCxnSpPr/>
          <p:nvPr/>
        </p:nvCxnSpPr>
        <p:spPr>
          <a:xfrm>
            <a:off x="4429125" y="2038350"/>
            <a:ext cx="438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g3f9b5de7d18_0_1334"/>
          <p:cNvCxnSpPr/>
          <p:nvPr/>
        </p:nvCxnSpPr>
        <p:spPr>
          <a:xfrm>
            <a:off x="4429125" y="2362200"/>
            <a:ext cx="438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g3f9b5de7d18_0_1334"/>
          <p:cNvCxnSpPr/>
          <p:nvPr/>
        </p:nvCxnSpPr>
        <p:spPr>
          <a:xfrm>
            <a:off x="4429125" y="2686050"/>
            <a:ext cx="438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g3f9b5de7d18_0_1334"/>
          <p:cNvCxnSpPr/>
          <p:nvPr/>
        </p:nvCxnSpPr>
        <p:spPr>
          <a:xfrm>
            <a:off x="4429125" y="3009900"/>
            <a:ext cx="438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g3f9b5de7d18_0_1334"/>
          <p:cNvCxnSpPr/>
          <p:nvPr/>
        </p:nvCxnSpPr>
        <p:spPr>
          <a:xfrm>
            <a:off x="4429125" y="3333750"/>
            <a:ext cx="438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g3f9b5de7d18_0_1334"/>
          <p:cNvCxnSpPr/>
          <p:nvPr/>
        </p:nvCxnSpPr>
        <p:spPr>
          <a:xfrm>
            <a:off x="4429125" y="3657600"/>
            <a:ext cx="4381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g3f9b5de7d18_0_1334"/>
          <p:cNvSpPr txBox="1"/>
          <p:nvPr/>
        </p:nvSpPr>
        <p:spPr>
          <a:xfrm>
            <a:off x="4610100" y="17526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endParaRPr b="1" sz="95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g3f9b5de7d18_0_1334"/>
          <p:cNvSpPr txBox="1"/>
          <p:nvPr/>
        </p:nvSpPr>
        <p:spPr>
          <a:xfrm>
            <a:off x="6419850" y="1752600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SS dentro</a:t>
            </a:r>
            <a:endParaRPr b="1" sz="95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g3f9b5de7d18_0_1334"/>
          <p:cNvSpPr txBox="1"/>
          <p:nvPr/>
        </p:nvSpPr>
        <p:spPr>
          <a:xfrm>
            <a:off x="7467600" y="1752600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SS fuori</a:t>
            </a:r>
            <a:endParaRPr b="1" sz="95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g3f9b5de7d18_0_1334"/>
          <p:cNvSpPr/>
          <p:nvPr/>
        </p:nvSpPr>
        <p:spPr>
          <a:xfrm>
            <a:off x="4438650" y="2047875"/>
            <a:ext cx="4362600" cy="304800"/>
          </a:xfrm>
          <a:prstGeom prst="rect">
            <a:avLst/>
          </a:prstGeom>
          <a:solidFill>
            <a:srgbClr val="00D2FF">
              <a:alpha val="12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f9b5de7d18_0_1334"/>
          <p:cNvSpPr txBox="1"/>
          <p:nvPr/>
        </p:nvSpPr>
        <p:spPr>
          <a:xfrm>
            <a:off x="4610100" y="210502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Persistenza ★</a:t>
            </a:r>
            <a:endParaRPr b="1" sz="95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0" name="Google Shape;400;g3f9b5de7d18_0_1334"/>
          <p:cNvSpPr txBox="1"/>
          <p:nvPr/>
        </p:nvSpPr>
        <p:spPr>
          <a:xfrm>
            <a:off x="6419850" y="21050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1" sz="95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g3f9b5de7d18_0_1334"/>
          <p:cNvSpPr txBox="1"/>
          <p:nvPr/>
        </p:nvSpPr>
        <p:spPr>
          <a:xfrm>
            <a:off x="7467600" y="2105025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1" sz="950">
              <a:solidFill>
                <a:srgbClr val="1533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g3f9b5de7d18_0_1334"/>
          <p:cNvSpPr txBox="1"/>
          <p:nvPr/>
        </p:nvSpPr>
        <p:spPr>
          <a:xfrm>
            <a:off x="4610100" y="242887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SimpleRNN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g3f9b5de7d18_0_1334"/>
          <p:cNvSpPr txBox="1"/>
          <p:nvPr/>
        </p:nvSpPr>
        <p:spPr>
          <a:xfrm>
            <a:off x="6419850" y="242887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+0,24</a:t>
            </a:r>
            <a:endParaRPr b="1" sz="95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4" name="Google Shape;404;g3f9b5de7d18_0_1334"/>
          <p:cNvSpPr txBox="1"/>
          <p:nvPr/>
        </p:nvSpPr>
        <p:spPr>
          <a:xfrm>
            <a:off x="7467600" y="2428875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+0,36</a:t>
            </a:r>
            <a:endParaRPr b="1" sz="950">
              <a:solidFill>
                <a:srgbClr val="10B98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g3f9b5de7d18_0_1334"/>
          <p:cNvSpPr txBox="1"/>
          <p:nvPr/>
        </p:nvSpPr>
        <p:spPr>
          <a:xfrm>
            <a:off x="4610100" y="275272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GRU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g3f9b5de7d18_0_1334"/>
          <p:cNvSpPr txBox="1"/>
          <p:nvPr/>
        </p:nvSpPr>
        <p:spPr>
          <a:xfrm>
            <a:off x="6419850" y="27527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−8,8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g3f9b5de7d18_0_1334"/>
          <p:cNvSpPr txBox="1"/>
          <p:nvPr/>
        </p:nvSpPr>
        <p:spPr>
          <a:xfrm>
            <a:off x="7467600" y="2752725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−3,9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g3f9b5de7d18_0_1334"/>
          <p:cNvSpPr txBox="1"/>
          <p:nvPr/>
        </p:nvSpPr>
        <p:spPr>
          <a:xfrm>
            <a:off x="4610100" y="307657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Google Shape;409;g3f9b5de7d18_0_1334"/>
          <p:cNvSpPr txBox="1"/>
          <p:nvPr/>
        </p:nvSpPr>
        <p:spPr>
          <a:xfrm>
            <a:off x="6419850" y="307657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−31,5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g3f9b5de7d18_0_1334"/>
          <p:cNvSpPr txBox="1"/>
          <p:nvPr/>
        </p:nvSpPr>
        <p:spPr>
          <a:xfrm>
            <a:off x="7467600" y="3076575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−8,3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g3f9b5de7d18_0_1334"/>
          <p:cNvSpPr txBox="1"/>
          <p:nvPr/>
        </p:nvSpPr>
        <p:spPr>
          <a:xfrm>
            <a:off x="4610100" y="340042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MLP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g3f9b5de7d18_0_1334"/>
          <p:cNvSpPr txBox="1"/>
          <p:nvPr/>
        </p:nvSpPr>
        <p:spPr>
          <a:xfrm>
            <a:off x="6419850" y="3400425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−44,8</a:t>
            </a:r>
            <a:endParaRPr b="0" sz="9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3" name="Google Shape;413;g3f9b5de7d18_0_1334"/>
          <p:cNvSpPr txBox="1"/>
          <p:nvPr/>
        </p:nvSpPr>
        <p:spPr>
          <a:xfrm>
            <a:off x="7467600" y="3400425"/>
            <a:ext cx="11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−132,9</a:t>
            </a:r>
            <a:endParaRPr b="1" sz="950">
              <a:solidFill>
                <a:srgbClr val="EF44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g3f9b5de7d18_0_1334"/>
          <p:cNvSpPr txBox="1"/>
          <p:nvPr/>
        </p:nvSpPr>
        <p:spPr>
          <a:xfrm>
            <a:off x="357800" y="4792723"/>
            <a:ext cx="1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9b5de7d18_0_1334"/>
          <p:cNvSpPr txBox="1"/>
          <p:nvPr/>
        </p:nvSpPr>
        <p:spPr>
          <a:xfrm>
            <a:off x="3043352" y="4792723"/>
            <a:ext cx="30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9b5de7d18_0_149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g3f9b5de7d18_0_1492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759" y="25813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f9b5de7d18_0_1492"/>
          <p:cNvSpPr txBox="1"/>
          <p:nvPr/>
        </p:nvSpPr>
        <p:spPr>
          <a:xfrm>
            <a:off x="1622774" y="762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225"/>
              </a:spcAft>
              <a:buNone/>
            </a:pPr>
            <a:r>
              <a:rPr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9b5de7d18_0_1492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Risultati</a:t>
            </a:r>
            <a:endParaRPr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9b5de7d18_0_1492"/>
          <p:cNvSpPr txBox="1"/>
          <p:nvPr/>
        </p:nvSpPr>
        <p:spPr>
          <a:xfrm>
            <a:off x="328613" y="7429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D2 — Stress operativo o conseguenza del degrado?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9b5de7d18_0_1492"/>
          <p:cNvSpPr/>
          <p:nvPr/>
        </p:nvSpPr>
        <p:spPr>
          <a:xfrm>
            <a:off x="333375" y="1123950"/>
            <a:ext cx="8477400" cy="285900"/>
          </a:xfrm>
          <a:prstGeom prst="roundRect">
            <a:avLst>
              <a:gd fmla="val 13333" name="adj"/>
            </a:avLst>
          </a:prstGeom>
          <a:solidFill>
            <a:srgbClr val="F0F4F8"/>
          </a:solidFill>
          <a:ln cap="flat" cmpd="sng" w="9525">
            <a:solidFill>
              <a:srgbClr val="D2D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f9b5de7d18_0_1492"/>
          <p:cNvSpPr/>
          <p:nvPr/>
        </p:nvSpPr>
        <p:spPr>
          <a:xfrm>
            <a:off x="461963" y="1233488"/>
            <a:ext cx="66600" cy="66600"/>
          </a:xfrm>
          <a:prstGeom prst="ellipse">
            <a:avLst/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9b5de7d18_0_1492"/>
          <p:cNvSpPr txBox="1"/>
          <p:nvPr/>
        </p:nvSpPr>
        <p:spPr>
          <a:xfrm>
            <a:off x="628650" y="1171575"/>
            <a:ext cx="8048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Nota metodologica: </a:t>
            </a:r>
            <a:r>
              <a:rPr b="0" lang="it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Strumenti diversi per livelli di analisi diversi: fra blocchi e dentro il blocco</a:t>
            </a:r>
            <a:endParaRPr b="1" sz="10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8" name="Google Shape;428;g3f9b5de7d18_0_1492"/>
          <p:cNvGrpSpPr/>
          <p:nvPr/>
        </p:nvGrpSpPr>
        <p:grpSpPr>
          <a:xfrm>
            <a:off x="333375" y="1485900"/>
            <a:ext cx="8477400" cy="1009800"/>
            <a:chOff x="333375" y="1485900"/>
            <a:chExt cx="8477400" cy="1009800"/>
          </a:xfrm>
        </p:grpSpPr>
        <p:sp>
          <p:nvSpPr>
            <p:cNvPr id="429" name="Google Shape;429;g3f9b5de7d18_0_1492"/>
            <p:cNvSpPr/>
            <p:nvPr/>
          </p:nvSpPr>
          <p:spPr>
            <a:xfrm>
              <a:off x="333375" y="1485900"/>
              <a:ext cx="8477400" cy="1009800"/>
            </a:xfrm>
            <a:prstGeom prst="roundRect">
              <a:avLst>
                <a:gd fmla="val 5660" name="adj"/>
              </a:avLst>
            </a:prstGeom>
            <a:solidFill>
              <a:srgbClr val="F8FAFC"/>
            </a:solidFill>
            <a:ln cap="flat" cmpd="sng">
              <a:solidFill>
                <a:srgbClr val="E2E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0" name="Google Shape;430;g3f9b5de7d18_0_14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375" y="1485900"/>
              <a:ext cx="8477400" cy="10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" name="Google Shape;431;g3f9b5de7d18_0_1492"/>
            <p:cNvSpPr txBox="1"/>
            <p:nvPr/>
          </p:nvSpPr>
          <p:spPr>
            <a:xfrm>
              <a:off x="447675" y="1543050"/>
              <a:ext cx="82488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01.</a:t>
              </a:r>
              <a:r>
                <a:rPr b="1" lang="it" sz="120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Fattori di protocollo — unità: il blocco</a:t>
              </a:r>
              <a:endParaRPr b="1" sz="1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Calibri"/>
                <a:buChar char="●"/>
              </a:pPr>
              <a:r>
                <a:rPr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12 blocchi, pendenza del SoH stimata su una finestra comune di 25 cicli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Calibri"/>
                <a:buChar char="●"/>
              </a:pPr>
              <a:r>
                <a:rPr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Punti percentuali di SoH persi ogni 100 cicli: 4 °C → 56,4 | 22 °C → 26,6 | 43 °C → 24,7 | 24 °C → 14,8 (il solo gruppo a 24 °C copre da 3,8 a 32,3)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225"/>
                </a:spcAft>
                <a:buNone/>
              </a:pPr>
              <a:r>
                <a:rPr b="1" i="1" lang="it" sz="9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Verdetto: </a:t>
              </a:r>
              <a:r>
                <a:rPr b="0" i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Il freddo estremo degrada più in fretta, ma i gruppi si sovrappongono e quelli intermedi non sono distinguibili</a:t>
              </a:r>
              <a:endParaRPr b="1" i="1" sz="9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g3f9b5de7d18_0_1492"/>
          <p:cNvGrpSpPr/>
          <p:nvPr/>
        </p:nvGrpSpPr>
        <p:grpSpPr>
          <a:xfrm>
            <a:off x="333375" y="2571750"/>
            <a:ext cx="8477400" cy="1009800"/>
            <a:chOff x="333375" y="2571750"/>
            <a:chExt cx="8477400" cy="1009800"/>
          </a:xfrm>
        </p:grpSpPr>
        <p:pic>
          <p:nvPicPr>
            <p:cNvPr id="433" name="Google Shape;433;g3f9b5de7d18_0_14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375" y="2571750"/>
              <a:ext cx="8477400" cy="10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g3f9b5de7d18_0_1492"/>
            <p:cNvSpPr txBox="1"/>
            <p:nvPr/>
          </p:nvSpPr>
          <p:spPr>
            <a:xfrm>
              <a:off x="447675" y="2628900"/>
              <a:ext cx="82488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02.</a:t>
              </a:r>
              <a:r>
                <a:rPr b="1" lang="it" sz="120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Variabili entro blocco — il modello addestrato</a:t>
              </a:r>
              <a:endParaRPr b="1" sz="1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Calibri"/>
                <a:buChar char="●"/>
              </a:pPr>
              <a:r>
                <a:rPr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Permutation importance sulle 10 variabili di ingresso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Calibri"/>
                <a:buChar char="●"/>
              </a:pPr>
              <a:r>
                <a:rPr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Guadagno condizionale: modelli annidati, 6 semi, test appaiato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225"/>
                </a:spcAft>
                <a:buNone/>
              </a:pPr>
              <a:r>
                <a:rPr b="1" i="1" lang="it" sz="9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Verdetto: </a:t>
              </a:r>
              <a:r>
                <a:rPr b="0" i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Misura ciò che il modello usa davvero, non ciò che correla nei dati</a:t>
              </a:r>
              <a:endParaRPr b="1" i="1" sz="9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g3f9b5de7d18_0_1492"/>
          <p:cNvGrpSpPr/>
          <p:nvPr/>
        </p:nvGrpSpPr>
        <p:grpSpPr>
          <a:xfrm>
            <a:off x="333375" y="3657600"/>
            <a:ext cx="8477400" cy="1009800"/>
            <a:chOff x="333375" y="3657600"/>
            <a:chExt cx="8477400" cy="1009800"/>
          </a:xfrm>
        </p:grpSpPr>
        <p:pic>
          <p:nvPicPr>
            <p:cNvPr id="436" name="Google Shape;436;g3f9b5de7d18_0_14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3375" y="3657600"/>
              <a:ext cx="8477400" cy="10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g3f9b5de7d18_0_1492"/>
            <p:cNvSpPr txBox="1"/>
            <p:nvPr/>
          </p:nvSpPr>
          <p:spPr>
            <a:xfrm>
              <a:off x="447675" y="3714750"/>
              <a:ext cx="82488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03.</a:t>
              </a:r>
              <a:r>
                <a:rPr b="1" lang="it" sz="120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Doppio test di direzione</a:t>
              </a:r>
              <a:endParaRPr b="1" sz="1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rtl="0" algn="l">
                <a:spcBef>
                  <a:spcPts val="225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Calibri"/>
                <a:buChar char="●"/>
              </a:pPr>
              <a:r>
                <a:rPr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Stress operativo solo se il guadagno condizionale è positivo e significativo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950"/>
                <a:buFont typeface="Calibri"/>
                <a:buChar char="●"/>
              </a:pPr>
              <a:r>
                <a:rPr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 se la variabile predice in avanti più che all'indietro — nessuna delle 9 variabili supera entrambi i test</a:t>
              </a:r>
              <a:endParaRPr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225"/>
                </a:spcAft>
                <a:buNone/>
              </a:pPr>
              <a:r>
                <a:rPr b="1" i="1" lang="it" sz="9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Verdetto: </a:t>
              </a:r>
              <a:r>
                <a:rPr b="0" i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Tutte classificate come conseguenza del degrado o informazione già contenuta nello stato</a:t>
              </a:r>
              <a:endParaRPr b="1" i="1" sz="9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g3f9b5de7d18_0_1492"/>
          <p:cNvSpPr txBox="1"/>
          <p:nvPr/>
        </p:nvSpPr>
        <p:spPr>
          <a:xfrm>
            <a:off x="357759" y="4792694"/>
            <a:ext cx="15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25"/>
              </a:spcAft>
              <a:buNone/>
            </a:pPr>
            <a:r>
              <a:rPr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9b5de7d18_0_1492"/>
          <p:cNvSpPr txBox="1"/>
          <p:nvPr/>
        </p:nvSpPr>
        <p:spPr>
          <a:xfrm>
            <a:off x="3043333" y="4792694"/>
            <a:ext cx="30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25"/>
              </a:spcAft>
              <a:buNone/>
            </a:pPr>
            <a:r>
              <a:rPr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9b5de7d18_0_23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5" name="Google Shape;445;g3f9b5de7d18_0_2359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3f9b5de7d18_0_2359"/>
          <p:cNvSpPr txBox="1"/>
          <p:nvPr/>
        </p:nvSpPr>
        <p:spPr>
          <a:xfrm>
            <a:off x="1622755" y="762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f9b5de7d18_0_2359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Risultati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f9b5de7d18_0_2359"/>
          <p:cNvSpPr txBox="1"/>
          <p:nvPr/>
        </p:nvSpPr>
        <p:spPr>
          <a:xfrm>
            <a:off x="328613" y="762000"/>
            <a:ext cx="7620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035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Perché a un ciclo nessun modello vince</a:t>
            </a:r>
            <a:endParaRPr b="1" sz="2035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g3f9b5de7d18_0_2359"/>
          <p:cNvSpPr/>
          <p:nvPr/>
        </p:nvSpPr>
        <p:spPr>
          <a:xfrm>
            <a:off x="333375" y="1123950"/>
            <a:ext cx="8477400" cy="285900"/>
          </a:xfrm>
          <a:prstGeom prst="roundRect">
            <a:avLst>
              <a:gd fmla="val 13332" name="adj"/>
            </a:avLst>
          </a:prstGeom>
          <a:solidFill>
            <a:srgbClr val="F0F4F8"/>
          </a:solidFill>
          <a:ln cap="flat" cmpd="sng" w="9525">
            <a:solidFill>
              <a:srgbClr val="D2D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9b5de7d18_0_2359"/>
          <p:cNvSpPr/>
          <p:nvPr/>
        </p:nvSpPr>
        <p:spPr>
          <a:xfrm>
            <a:off x="461963" y="1233488"/>
            <a:ext cx="66600" cy="66600"/>
          </a:xfrm>
          <a:prstGeom prst="ellipse">
            <a:avLst/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9b5de7d18_0_2359"/>
          <p:cNvSpPr txBox="1"/>
          <p:nvPr/>
        </p:nvSpPr>
        <p:spPr>
          <a:xfrm>
            <a:off x="628650" y="1123950"/>
            <a:ext cx="80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Il bersaglio a orizzonte breve è più piccolo del rumore di misura: </a:t>
            </a:r>
            <a:r>
              <a:rPr b="0" lang="it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allungando l'orizzonte il confronto si rovescia</a:t>
            </a:r>
            <a:endParaRPr b="1" sz="105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2" name="Google Shape;452;g3f9b5de7d18_0_2359"/>
          <p:cNvGrpSpPr/>
          <p:nvPr/>
        </p:nvGrpSpPr>
        <p:grpSpPr>
          <a:xfrm>
            <a:off x="333375" y="1485900"/>
            <a:ext cx="3905400" cy="3143400"/>
            <a:chOff x="333375" y="1485900"/>
            <a:chExt cx="3905400" cy="3143400"/>
          </a:xfrm>
        </p:grpSpPr>
        <p:sp>
          <p:nvSpPr>
            <p:cNvPr id="453" name="Google Shape;453;g3f9b5de7d18_0_2359"/>
            <p:cNvSpPr/>
            <p:nvPr/>
          </p:nvSpPr>
          <p:spPr>
            <a:xfrm>
              <a:off x="333375" y="1485900"/>
              <a:ext cx="3905400" cy="3143400"/>
            </a:xfrm>
            <a:prstGeom prst="roundRect">
              <a:avLst>
                <a:gd fmla="val 242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g3f9b5de7d18_0_2359"/>
            <p:cNvSpPr txBox="1"/>
            <p:nvPr/>
          </p:nvSpPr>
          <p:spPr>
            <a:xfrm>
              <a:off x="514350" y="1628775"/>
              <a:ext cx="3543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01. </a:t>
              </a: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Segnale contro rumore</a:t>
              </a:r>
              <a:endParaRPr b="1" sz="14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Il rapporto vale 0,22 a un ciclo, attraversa l'unità a dieci, arriva a 3,36 a cinquanta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g3f9b5de7d18_0_2359"/>
            <p:cNvSpPr txBox="1"/>
            <p:nvPr/>
          </p:nvSpPr>
          <p:spPr>
            <a:xfrm>
              <a:off x="514350" y="2628900"/>
              <a:ext cx="3543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02. </a:t>
              </a: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Il punto di pareggio</a:t>
              </a:r>
              <a:endParaRPr b="1" sz="14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Il modello supera la persistenza esattamente al decimo ciclo, dove il segnale supera il rumore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g3f9b5de7d18_0_2359"/>
            <p:cNvSpPr txBox="1"/>
            <p:nvPr/>
          </p:nvSpPr>
          <p:spPr>
            <a:xfrm>
              <a:off x="514350" y="3629025"/>
              <a:ext cx="3543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03. </a:t>
              </a: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Non è un limite dell'architettura</a:t>
              </a:r>
              <a:endParaRPr b="1" sz="14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È un limite del bersaglio: a un ciclo non c'è abbastanza da prevedere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g3f9b5de7d18_0_2359"/>
          <p:cNvGrpSpPr/>
          <p:nvPr/>
        </p:nvGrpSpPr>
        <p:grpSpPr>
          <a:xfrm>
            <a:off x="4429125" y="1485900"/>
            <a:ext cx="4381500" cy="3143400"/>
            <a:chOff x="4429125" y="1485900"/>
            <a:chExt cx="4381500" cy="3143400"/>
          </a:xfrm>
        </p:grpSpPr>
        <p:sp>
          <p:nvSpPr>
            <p:cNvPr id="458" name="Google Shape;458;g3f9b5de7d18_0_2359"/>
            <p:cNvSpPr/>
            <p:nvPr/>
          </p:nvSpPr>
          <p:spPr>
            <a:xfrm>
              <a:off x="4429125" y="1485900"/>
              <a:ext cx="4381500" cy="3143400"/>
            </a:xfrm>
            <a:prstGeom prst="roundRect">
              <a:avLst>
                <a:gd fmla="val 242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3f9b5de7d18_0_2359"/>
            <p:cNvSpPr/>
            <p:nvPr/>
          </p:nvSpPr>
          <p:spPr>
            <a:xfrm>
              <a:off x="4443413" y="2314575"/>
              <a:ext cx="4353000" cy="1086000"/>
            </a:xfrm>
            <a:prstGeom prst="rect">
              <a:avLst/>
            </a:prstGeom>
            <a:solidFill>
              <a:srgbClr val="00D2F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60" name="Google Shape;460;g3f9b5de7d18_0_2359"/>
            <p:cNvCxnSpPr/>
            <p:nvPr/>
          </p:nvCxnSpPr>
          <p:spPr>
            <a:xfrm>
              <a:off x="4429125" y="1885950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1" name="Google Shape;461;g3f9b5de7d18_0_2359"/>
            <p:cNvCxnSpPr/>
            <p:nvPr/>
          </p:nvCxnSpPr>
          <p:spPr>
            <a:xfrm>
              <a:off x="4429125" y="2314575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2" name="Google Shape;462;g3f9b5de7d18_0_2359"/>
            <p:cNvCxnSpPr/>
            <p:nvPr/>
          </p:nvCxnSpPr>
          <p:spPr>
            <a:xfrm>
              <a:off x="4429125" y="2676525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3" name="Google Shape;463;g3f9b5de7d18_0_2359"/>
            <p:cNvCxnSpPr/>
            <p:nvPr/>
          </p:nvCxnSpPr>
          <p:spPr>
            <a:xfrm>
              <a:off x="4429125" y="3038475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4" name="Google Shape;464;g3f9b5de7d18_0_2359"/>
            <p:cNvCxnSpPr/>
            <p:nvPr/>
          </p:nvCxnSpPr>
          <p:spPr>
            <a:xfrm>
              <a:off x="4429125" y="3400425"/>
              <a:ext cx="43815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65" name="Google Shape;465;g3f9b5de7d18_0_2359"/>
            <p:cNvSpPr txBox="1"/>
            <p:nvPr/>
          </p:nvSpPr>
          <p:spPr>
            <a:xfrm>
              <a:off x="4610100" y="1981200"/>
              <a:ext cx="1714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Orizzonte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6" name="Google Shape;466;g3f9b5de7d18_0_2359"/>
            <p:cNvSpPr txBox="1"/>
            <p:nvPr/>
          </p:nvSpPr>
          <p:spPr>
            <a:xfrm>
              <a:off x="6419850" y="1981200"/>
              <a:ext cx="952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GRU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7" name="Google Shape;467;g3f9b5de7d18_0_2359"/>
            <p:cNvSpPr txBox="1"/>
            <p:nvPr/>
          </p:nvSpPr>
          <p:spPr>
            <a:xfrm>
              <a:off x="7467600" y="1981200"/>
              <a:ext cx="11622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Persistenza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8" name="Google Shape;468;g3f9b5de7d18_0_2359"/>
            <p:cNvSpPr txBox="1"/>
            <p:nvPr/>
          </p:nvSpPr>
          <p:spPr>
            <a:xfrm>
              <a:off x="4610100" y="23907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 ciclo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69" name="Google Shape;469;g3f9b5de7d18_0_2359"/>
            <p:cNvSpPr txBox="1"/>
            <p:nvPr/>
          </p:nvSpPr>
          <p:spPr>
            <a:xfrm>
              <a:off x="6419850" y="239077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0,0218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0" name="Google Shape;470;g3f9b5de7d18_0_2359"/>
            <p:cNvSpPr txBox="1"/>
            <p:nvPr/>
          </p:nvSpPr>
          <p:spPr>
            <a:xfrm>
              <a:off x="7467600" y="2390775"/>
              <a:ext cx="11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0,0110</a:t>
              </a:r>
              <a:endParaRPr b="0" sz="9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1" name="Google Shape;471;g3f9b5de7d18_0_2359"/>
            <p:cNvSpPr txBox="1"/>
            <p:nvPr/>
          </p:nvSpPr>
          <p:spPr>
            <a:xfrm>
              <a:off x="4610100" y="275272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10 cicli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2" name="Google Shape;472;g3f9b5de7d18_0_2359"/>
            <p:cNvSpPr txBox="1"/>
            <p:nvPr/>
          </p:nvSpPr>
          <p:spPr>
            <a:xfrm>
              <a:off x="6419850" y="27527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0,0286</a:t>
              </a:r>
              <a:endParaRPr b="1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3" name="Google Shape;473;g3f9b5de7d18_0_2359"/>
            <p:cNvSpPr txBox="1"/>
            <p:nvPr/>
          </p:nvSpPr>
          <p:spPr>
            <a:xfrm>
              <a:off x="7467600" y="2752725"/>
              <a:ext cx="11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0,0311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4" name="Google Shape;474;g3f9b5de7d18_0_2359"/>
            <p:cNvSpPr txBox="1"/>
            <p:nvPr/>
          </p:nvSpPr>
          <p:spPr>
            <a:xfrm>
              <a:off x="4610100" y="31146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30 cicli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5" name="Google Shape;475;g3f9b5de7d18_0_2359"/>
            <p:cNvSpPr txBox="1"/>
            <p:nvPr/>
          </p:nvSpPr>
          <p:spPr>
            <a:xfrm>
              <a:off x="6419850" y="311467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0,0363</a:t>
              </a:r>
              <a:endParaRPr b="1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6" name="Google Shape;476;g3f9b5de7d18_0_2359"/>
            <p:cNvSpPr txBox="1"/>
            <p:nvPr/>
          </p:nvSpPr>
          <p:spPr>
            <a:xfrm>
              <a:off x="7467600" y="3114675"/>
              <a:ext cx="11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0,0667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7" name="Google Shape;477;g3f9b5de7d18_0_2359"/>
            <p:cNvSpPr txBox="1"/>
            <p:nvPr/>
          </p:nvSpPr>
          <p:spPr>
            <a:xfrm>
              <a:off x="4610100" y="347662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50 cicli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8" name="Google Shape;478;g3f9b5de7d18_0_2359"/>
            <p:cNvSpPr txBox="1"/>
            <p:nvPr/>
          </p:nvSpPr>
          <p:spPr>
            <a:xfrm>
              <a:off x="6419850" y="3476625"/>
              <a:ext cx="95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0,0405</a:t>
              </a:r>
              <a:endParaRPr b="1" sz="950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9" name="Google Shape;479;g3f9b5de7d18_0_2359"/>
            <p:cNvSpPr txBox="1"/>
            <p:nvPr/>
          </p:nvSpPr>
          <p:spPr>
            <a:xfrm>
              <a:off x="7467600" y="3476625"/>
              <a:ext cx="1162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0,1130</a:t>
              </a:r>
              <a:endParaRPr b="1" sz="95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80" name="Google Shape;480;g3f9b5de7d18_0_2359"/>
          <p:cNvSpPr txBox="1"/>
          <p:nvPr/>
        </p:nvSpPr>
        <p:spPr>
          <a:xfrm>
            <a:off x="357800" y="4792723"/>
            <a:ext cx="1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9b5de7d18_0_2359"/>
          <p:cNvSpPr txBox="1"/>
          <p:nvPr/>
        </p:nvSpPr>
        <p:spPr>
          <a:xfrm>
            <a:off x="3043352" y="4792723"/>
            <a:ext cx="30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9b5de7d18_0_20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g3f9b5de7d18_0_2028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3f9b5de7d18_0_2028"/>
          <p:cNvSpPr txBox="1"/>
          <p:nvPr/>
        </p:nvSpPr>
        <p:spPr>
          <a:xfrm>
            <a:off x="1622755" y="762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9b5de7d18_0_2028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Risultati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9b5de7d18_0_2028"/>
          <p:cNvSpPr txBox="1"/>
          <p:nvPr/>
        </p:nvSpPr>
        <p:spPr>
          <a:xfrm>
            <a:off x="328613" y="7810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Quanti dati servono, e di che tipo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1" name="Google Shape;491;g3f9b5de7d18_0_2028"/>
          <p:cNvGrpSpPr/>
          <p:nvPr/>
        </p:nvGrpSpPr>
        <p:grpSpPr>
          <a:xfrm>
            <a:off x="333375" y="1238250"/>
            <a:ext cx="4143300" cy="2381400"/>
            <a:chOff x="333375" y="1238250"/>
            <a:chExt cx="4143300" cy="2381400"/>
          </a:xfrm>
        </p:grpSpPr>
        <p:sp>
          <p:nvSpPr>
            <p:cNvPr id="492" name="Google Shape;492;g3f9b5de7d18_0_2028"/>
            <p:cNvSpPr/>
            <p:nvPr/>
          </p:nvSpPr>
          <p:spPr>
            <a:xfrm>
              <a:off x="333375" y="1238250"/>
              <a:ext cx="4143300" cy="23814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g3f9b5de7d18_0_2028"/>
            <p:cNvSpPr txBox="1"/>
            <p:nvPr/>
          </p:nvSpPr>
          <p:spPr>
            <a:xfrm>
              <a:off x="523875" y="1352550"/>
              <a:ext cx="3762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Aggiungere celle dello stesso protocollo</a:t>
              </a:r>
              <a:endParaRPr b="1" sz="1400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4" name="Google Shape;494;g3f9b5de7d18_0_2028"/>
            <p:cNvGrpSpPr/>
            <p:nvPr/>
          </p:nvGrpSpPr>
          <p:grpSpPr>
            <a:xfrm>
              <a:off x="523875" y="1657350"/>
              <a:ext cx="3762300" cy="762000"/>
              <a:chOff x="523875" y="1657350"/>
              <a:chExt cx="3762300" cy="762000"/>
            </a:xfrm>
          </p:grpSpPr>
          <p:sp>
            <p:nvSpPr>
              <p:cNvPr id="495" name="Google Shape;495;g3f9b5de7d18_0_2028"/>
              <p:cNvSpPr/>
              <p:nvPr/>
            </p:nvSpPr>
            <p:spPr>
              <a:xfrm>
                <a:off x="523875" y="1657350"/>
                <a:ext cx="3762300" cy="190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g3f9b5de7d18_0_2028"/>
              <p:cNvSpPr/>
              <p:nvPr/>
            </p:nvSpPr>
            <p:spPr>
              <a:xfrm>
                <a:off x="523875" y="1847850"/>
                <a:ext cx="3762300" cy="190500"/>
              </a:xfrm>
              <a:prstGeom prst="rect">
                <a:avLst/>
              </a:prstGeom>
              <a:solidFill>
                <a:srgbClr val="00D2FF">
                  <a:alpha val="12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g3f9b5de7d18_0_2028"/>
              <p:cNvSpPr/>
              <p:nvPr/>
            </p:nvSpPr>
            <p:spPr>
              <a:xfrm>
                <a:off x="523875" y="2038350"/>
                <a:ext cx="3762300" cy="190500"/>
              </a:xfrm>
              <a:prstGeom prst="rect">
                <a:avLst/>
              </a:prstGeom>
              <a:solidFill>
                <a:srgbClr val="00D2FF">
                  <a:alpha val="12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g3f9b5de7d18_0_2028"/>
              <p:cNvSpPr/>
              <p:nvPr/>
            </p:nvSpPr>
            <p:spPr>
              <a:xfrm>
                <a:off x="523875" y="2228850"/>
                <a:ext cx="3762300" cy="190500"/>
              </a:xfrm>
              <a:prstGeom prst="rect">
                <a:avLst/>
              </a:prstGeom>
              <a:solidFill>
                <a:srgbClr val="00D2FF">
                  <a:alpha val="12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9" name="Google Shape;499;g3f9b5de7d18_0_2028"/>
              <p:cNvCxnSpPr/>
              <p:nvPr/>
            </p:nvCxnSpPr>
            <p:spPr>
              <a:xfrm>
                <a:off x="523875" y="1847850"/>
                <a:ext cx="3762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g3f9b5de7d18_0_2028"/>
              <p:cNvCxnSpPr/>
              <p:nvPr/>
            </p:nvCxnSpPr>
            <p:spPr>
              <a:xfrm>
                <a:off x="523875" y="2038350"/>
                <a:ext cx="3762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g3f9b5de7d18_0_2028"/>
              <p:cNvCxnSpPr/>
              <p:nvPr/>
            </p:nvCxnSpPr>
            <p:spPr>
              <a:xfrm>
                <a:off x="523875" y="2228850"/>
                <a:ext cx="3762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g3f9b5de7d18_0_2028"/>
              <p:cNvCxnSpPr/>
              <p:nvPr/>
            </p:nvCxnSpPr>
            <p:spPr>
              <a:xfrm>
                <a:off x="523875" y="2419350"/>
                <a:ext cx="3762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03" name="Google Shape;503;g3f9b5de7d18_0_2028"/>
              <p:cNvSpPr txBox="1"/>
              <p:nvPr/>
            </p:nvSpPr>
            <p:spPr>
              <a:xfrm>
                <a:off x="619125" y="16573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Blocchi in training</a:t>
                </a:r>
                <a:endParaRPr b="1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g3f9b5de7d18_0_2028"/>
              <p:cNvSpPr txBox="1"/>
              <p:nvPr/>
            </p:nvSpPr>
            <p:spPr>
              <a:xfrm>
                <a:off x="2619375" y="16573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RMSE test</a:t>
                </a:r>
                <a:endParaRPr b="1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g3f9b5de7d18_0_2028"/>
              <p:cNvSpPr txBox="1"/>
              <p:nvPr/>
            </p:nvSpPr>
            <p:spPr>
              <a:xfrm>
                <a:off x="619125" y="18478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2 blocchi</a:t>
                </a:r>
                <a:endParaRPr b="1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g3f9b5de7d18_0_2028"/>
              <p:cNvSpPr txBox="1"/>
              <p:nvPr/>
            </p:nvSpPr>
            <p:spPr>
              <a:xfrm>
                <a:off x="2619375" y="18478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0,0218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g3f9b5de7d18_0_2028"/>
              <p:cNvSpPr txBox="1"/>
              <p:nvPr/>
            </p:nvSpPr>
            <p:spPr>
              <a:xfrm>
                <a:off x="619125" y="20383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3 blocchi</a:t>
                </a:r>
                <a:endParaRPr b="1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g3f9b5de7d18_0_2028"/>
              <p:cNvSpPr txBox="1"/>
              <p:nvPr/>
            </p:nvSpPr>
            <p:spPr>
              <a:xfrm>
                <a:off x="2619375" y="20383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0,0125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g3f9b5de7d18_0_2028"/>
              <p:cNvSpPr txBox="1"/>
              <p:nvPr/>
            </p:nvSpPr>
            <p:spPr>
              <a:xfrm>
                <a:off x="619125" y="22288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15335B"/>
                    </a:solidFill>
                    <a:latin typeface="Inter"/>
                    <a:ea typeface="Inter"/>
                    <a:cs typeface="Inter"/>
                    <a:sym typeface="Inter"/>
                  </a:rPr>
                  <a:t>5 blocchi</a:t>
                </a:r>
                <a:endParaRPr b="1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0" name="Google Shape;510;g3f9b5de7d18_0_2028"/>
              <p:cNvSpPr txBox="1"/>
              <p:nvPr/>
            </p:nvSpPr>
            <p:spPr>
              <a:xfrm>
                <a:off x="2619375" y="2228850"/>
                <a:ext cx="1524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900">
                    <a:solidFill>
                      <a:srgbClr val="334155"/>
                    </a:solidFill>
                    <a:latin typeface="Inter"/>
                    <a:ea typeface="Inter"/>
                    <a:cs typeface="Inter"/>
                    <a:sym typeface="Inter"/>
                  </a:rPr>
                  <a:t>0,0154</a:t>
                </a:r>
                <a:endParaRPr b="0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511" name="Google Shape;511;g3f9b5de7d18_0_2028"/>
            <p:cNvSpPr txBox="1"/>
            <p:nvPr/>
          </p:nvSpPr>
          <p:spPr>
            <a:xfrm>
              <a:off x="523875" y="2476500"/>
              <a:ext cx="3762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L'errore quasi si dimezza, poi si ferma: resta sopra la persistenza (0,0110)</a:t>
              </a:r>
              <a:endParaRPr b="1" sz="9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8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Transformer: 0,0171 con 9.985 parametri, contro 0,0163 del GRU con 16.705 — indistinguibili</a:t>
              </a:r>
              <a:endParaRPr b="0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2" name="Google Shape;512;g3f9b5de7d18_0_2028"/>
          <p:cNvGrpSpPr/>
          <p:nvPr/>
        </p:nvGrpSpPr>
        <p:grpSpPr>
          <a:xfrm>
            <a:off x="4667250" y="1238250"/>
            <a:ext cx="4143300" cy="2381400"/>
            <a:chOff x="4667250" y="1238250"/>
            <a:chExt cx="4143300" cy="2381400"/>
          </a:xfrm>
        </p:grpSpPr>
        <p:sp>
          <p:nvSpPr>
            <p:cNvPr id="513" name="Google Shape;513;g3f9b5de7d18_0_2028"/>
            <p:cNvSpPr/>
            <p:nvPr/>
          </p:nvSpPr>
          <p:spPr>
            <a:xfrm>
              <a:off x="4667250" y="1238250"/>
              <a:ext cx="4143300" cy="23814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g3f9b5de7d18_0_2028"/>
            <p:cNvSpPr txBox="1"/>
            <p:nvPr/>
          </p:nvSpPr>
          <p:spPr>
            <a:xfrm>
              <a:off x="4857750" y="1352550"/>
              <a:ext cx="3762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Aggiungere celle di protocolli diversi</a:t>
              </a:r>
              <a:endParaRPr b="1" sz="14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g3f9b5de7d18_0_2028"/>
            <p:cNvSpPr txBox="1"/>
            <p:nvPr/>
          </p:nvSpPr>
          <p:spPr>
            <a:xfrm>
              <a:off x="4857750" y="1714500"/>
              <a:ext cx="3762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● Fino a 4 blocchi il comportamento è regolare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● </a:t>
              </a:r>
              <a:r>
                <a:rPr b="1" lang="it" sz="9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Da 5 blocchi in poi l'addestramento non converge</a:t>
              </a: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RMSE sui dati di training 0,86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● Non è un effetto della quantità di dati: è </a:t>
              </a:r>
              <a:r>
                <a:rPr b="1" lang="it" sz="9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instabilità dell'ottimizzazione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g3f9b5de7d18_0_2028"/>
          <p:cNvGrpSpPr/>
          <p:nvPr/>
        </p:nvGrpSpPr>
        <p:grpSpPr>
          <a:xfrm>
            <a:off x="333375" y="3762375"/>
            <a:ext cx="8477400" cy="809700"/>
            <a:chOff x="333375" y="3762375"/>
            <a:chExt cx="8477400" cy="809700"/>
          </a:xfrm>
        </p:grpSpPr>
        <p:sp>
          <p:nvSpPr>
            <p:cNvPr id="517" name="Google Shape;517;g3f9b5de7d18_0_2028"/>
            <p:cNvSpPr/>
            <p:nvPr/>
          </p:nvSpPr>
          <p:spPr>
            <a:xfrm>
              <a:off x="333375" y="3762375"/>
              <a:ext cx="8477400" cy="8097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g3f9b5de7d18_0_2028"/>
            <p:cNvSpPr txBox="1"/>
            <p:nvPr/>
          </p:nvSpPr>
          <p:spPr>
            <a:xfrm>
              <a:off x="523875" y="3762375"/>
              <a:ext cx="809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A questa scala conta l'omogeneità dei dati, </a:t>
              </a:r>
              <a:r>
                <a:rPr b="0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non la loro quantità</a:t>
              </a:r>
              <a:endParaRPr b="1" sz="11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g3f9b5de7d18_0_2028"/>
          <p:cNvSpPr txBox="1"/>
          <p:nvPr/>
        </p:nvSpPr>
        <p:spPr>
          <a:xfrm>
            <a:off x="357800" y="4792723"/>
            <a:ext cx="15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9b5de7d18_0_2028"/>
          <p:cNvSpPr txBox="1"/>
          <p:nvPr/>
        </p:nvSpPr>
        <p:spPr>
          <a:xfrm>
            <a:off x="3043352" y="4792723"/>
            <a:ext cx="30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9b5de7d18_0_219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6" name="Google Shape;526;g3f9b5de7d18_0_2192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3f9b5de7d18_0_2192"/>
          <p:cNvSpPr txBox="1"/>
          <p:nvPr/>
        </p:nvSpPr>
        <p:spPr>
          <a:xfrm>
            <a:off x="1622755" y="762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9b5de7d18_0_2192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Risultati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9b5de7d18_0_2192"/>
          <p:cNvSpPr txBox="1"/>
          <p:nvPr/>
        </p:nvSpPr>
        <p:spPr>
          <a:xfrm>
            <a:off x="328613" y="7810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Dalla previsione alla decisione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0" name="Google Shape;530;g3f9b5de7d18_0_2192"/>
          <p:cNvGrpSpPr/>
          <p:nvPr/>
        </p:nvGrpSpPr>
        <p:grpSpPr>
          <a:xfrm>
            <a:off x="333375" y="1238250"/>
            <a:ext cx="4143300" cy="705000"/>
            <a:chOff x="333375" y="1238250"/>
            <a:chExt cx="4143300" cy="705000"/>
          </a:xfrm>
        </p:grpSpPr>
        <p:sp>
          <p:nvSpPr>
            <p:cNvPr id="531" name="Google Shape;531;g3f9b5de7d18_0_2192"/>
            <p:cNvSpPr/>
            <p:nvPr/>
          </p:nvSpPr>
          <p:spPr>
            <a:xfrm>
              <a:off x="333375" y="1238250"/>
              <a:ext cx="4143300" cy="705000"/>
            </a:xfrm>
            <a:prstGeom prst="roundRect">
              <a:avLst>
                <a:gd fmla="val 108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g3f9b5de7d18_0_2192"/>
            <p:cNvSpPr txBox="1"/>
            <p:nvPr/>
          </p:nvSpPr>
          <p:spPr>
            <a:xfrm>
              <a:off x="476250" y="1314450"/>
              <a:ext cx="38577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01. </a:t>
              </a:r>
              <a:r>
                <a:rPr b="1" lang="it" sz="1018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La domanda applicativa</a:t>
              </a:r>
              <a:endParaRPr b="1" sz="1018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"Non quanto vale il SoH domani, ma fra quanti cicli scenderà sotto la soglia critica dell'80%"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3" name="Google Shape;533;g3f9b5de7d18_0_2192"/>
          <p:cNvGrpSpPr/>
          <p:nvPr/>
        </p:nvGrpSpPr>
        <p:grpSpPr>
          <a:xfrm>
            <a:off x="333375" y="2038350"/>
            <a:ext cx="4143300" cy="705000"/>
            <a:chOff x="333375" y="2038350"/>
            <a:chExt cx="4143300" cy="705000"/>
          </a:xfrm>
        </p:grpSpPr>
        <p:sp>
          <p:nvSpPr>
            <p:cNvPr id="534" name="Google Shape;534;g3f9b5de7d18_0_2192"/>
            <p:cNvSpPr/>
            <p:nvPr/>
          </p:nvSpPr>
          <p:spPr>
            <a:xfrm>
              <a:off x="333375" y="2038350"/>
              <a:ext cx="4143300" cy="705000"/>
            </a:xfrm>
            <a:prstGeom prst="roundRect">
              <a:avLst>
                <a:gd fmla="val 108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g3f9b5de7d18_0_2192"/>
            <p:cNvSpPr txBox="1"/>
            <p:nvPr/>
          </p:nvSpPr>
          <p:spPr>
            <a:xfrm>
              <a:off x="476250" y="2114550"/>
              <a:ext cx="38577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02. </a:t>
              </a:r>
              <a:r>
                <a:rPr b="1" lang="it" sz="1018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Il risultato</a:t>
              </a:r>
              <a:endParaRPr b="1" sz="1018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"Errore mediano di 17 cicli su 15 cicli residui: l'ordine di grandezza è quello della quantità da stimare"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6" name="Google Shape;536;g3f9b5de7d18_0_2192"/>
          <p:cNvGrpSpPr/>
          <p:nvPr/>
        </p:nvGrpSpPr>
        <p:grpSpPr>
          <a:xfrm>
            <a:off x="333375" y="2838450"/>
            <a:ext cx="4143300" cy="705000"/>
            <a:chOff x="333375" y="2838450"/>
            <a:chExt cx="4143300" cy="705000"/>
          </a:xfrm>
        </p:grpSpPr>
        <p:sp>
          <p:nvSpPr>
            <p:cNvPr id="537" name="Google Shape;537;g3f9b5de7d18_0_2192"/>
            <p:cNvSpPr/>
            <p:nvPr/>
          </p:nvSpPr>
          <p:spPr>
            <a:xfrm>
              <a:off x="333375" y="2838450"/>
              <a:ext cx="4143300" cy="705000"/>
            </a:xfrm>
            <a:prstGeom prst="roundRect">
              <a:avLst>
                <a:gd fmla="val 108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g3f9b5de7d18_0_2192"/>
            <p:cNvSpPr txBox="1"/>
            <p:nvPr/>
          </p:nvSpPr>
          <p:spPr>
            <a:xfrm>
              <a:off x="476250" y="2914650"/>
              <a:ext cx="38577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03. </a:t>
              </a:r>
              <a:r>
                <a:rPr b="1" lang="it" sz="1018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Da dove viene l'errore</a:t>
              </a:r>
              <a:endParaRPr b="1" sz="1018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"Partendo dai valori veri di SoH, la sola estrapolazione sbaglia di 15 cicli: il modello ne aggiunge meno di 2"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9" name="Google Shape;539;g3f9b5de7d18_0_2192"/>
          <p:cNvGrpSpPr/>
          <p:nvPr/>
        </p:nvGrpSpPr>
        <p:grpSpPr>
          <a:xfrm>
            <a:off x="4667250" y="1238250"/>
            <a:ext cx="4143300" cy="2305200"/>
            <a:chOff x="4667250" y="1238250"/>
            <a:chExt cx="4143300" cy="2305200"/>
          </a:xfrm>
        </p:grpSpPr>
        <p:sp>
          <p:nvSpPr>
            <p:cNvPr id="540" name="Google Shape;540;g3f9b5de7d18_0_2192"/>
            <p:cNvSpPr/>
            <p:nvPr/>
          </p:nvSpPr>
          <p:spPr>
            <a:xfrm>
              <a:off x="4667250" y="1238250"/>
              <a:ext cx="4143300" cy="2305200"/>
            </a:xfrm>
            <a:prstGeom prst="roundRect">
              <a:avLst>
                <a:gd fmla="val 3305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41" name="Google Shape;541;g3f9b5de7d18_0_2192"/>
            <p:cNvGrpSpPr/>
            <p:nvPr/>
          </p:nvGrpSpPr>
          <p:grpSpPr>
            <a:xfrm>
              <a:off x="5214938" y="1381125"/>
              <a:ext cx="3048000" cy="514500"/>
              <a:chOff x="5214938" y="1381125"/>
              <a:chExt cx="3048000" cy="514500"/>
            </a:xfrm>
          </p:grpSpPr>
          <p:sp>
            <p:nvSpPr>
              <p:cNvPr id="542" name="Google Shape;542;g3f9b5de7d18_0_2192"/>
              <p:cNvSpPr/>
              <p:nvPr/>
            </p:nvSpPr>
            <p:spPr>
              <a:xfrm>
                <a:off x="5214938" y="1381125"/>
                <a:ext cx="3048000" cy="5145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g3f9b5de7d18_0_2192"/>
              <p:cNvSpPr txBox="1"/>
              <p:nvPr/>
            </p:nvSpPr>
            <p:spPr>
              <a:xfrm>
                <a:off x="5310188" y="144780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18">
                    <a:solidFill>
                      <a:srgbClr val="15335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Previsione del SoH</a:t>
                </a:r>
                <a:endParaRPr b="1" sz="1018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833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ciclo per ciclo</a:t>
                </a:r>
                <a:endParaRPr b="0" sz="833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44" name="Google Shape;544;g3f9b5de7d18_0_21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96075" y="1895475"/>
              <a:ext cx="85800" cy="21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5" name="Google Shape;545;g3f9b5de7d18_0_2192"/>
            <p:cNvGrpSpPr/>
            <p:nvPr/>
          </p:nvGrpSpPr>
          <p:grpSpPr>
            <a:xfrm>
              <a:off x="5214938" y="2133600"/>
              <a:ext cx="3048000" cy="514500"/>
              <a:chOff x="5214938" y="2133600"/>
              <a:chExt cx="3048000" cy="514500"/>
            </a:xfrm>
          </p:grpSpPr>
          <p:sp>
            <p:nvSpPr>
              <p:cNvPr id="546" name="Google Shape;546;g3f9b5de7d18_0_2192"/>
              <p:cNvSpPr/>
              <p:nvPr/>
            </p:nvSpPr>
            <p:spPr>
              <a:xfrm>
                <a:off x="5214938" y="2133600"/>
                <a:ext cx="3048000" cy="5145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g3f9b5de7d18_0_2192"/>
              <p:cNvSpPr txBox="1"/>
              <p:nvPr/>
            </p:nvSpPr>
            <p:spPr>
              <a:xfrm>
                <a:off x="5310188" y="2200275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18">
                    <a:solidFill>
                      <a:srgbClr val="15335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Estrapolazione fino alla soglia</a:t>
                </a:r>
                <a:endParaRPr b="1" sz="1018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833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il passaggio che introduce l'errore</a:t>
                </a:r>
                <a:endParaRPr b="0" sz="833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548" name="Google Shape;548;g3f9b5de7d18_0_21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96075" y="2647950"/>
              <a:ext cx="85800" cy="21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49" name="Google Shape;549;g3f9b5de7d18_0_2192"/>
            <p:cNvGrpSpPr/>
            <p:nvPr/>
          </p:nvGrpSpPr>
          <p:grpSpPr>
            <a:xfrm>
              <a:off x="5214938" y="2886075"/>
              <a:ext cx="3048000" cy="514500"/>
              <a:chOff x="5214938" y="2886075"/>
              <a:chExt cx="3048000" cy="514500"/>
            </a:xfrm>
          </p:grpSpPr>
          <p:sp>
            <p:nvSpPr>
              <p:cNvPr id="550" name="Google Shape;550;g3f9b5de7d18_0_2192"/>
              <p:cNvSpPr/>
              <p:nvPr/>
            </p:nvSpPr>
            <p:spPr>
              <a:xfrm>
                <a:off x="5214938" y="2886075"/>
                <a:ext cx="3048000" cy="514500"/>
              </a:xfrm>
              <a:prstGeom prst="roundRect">
                <a:avLst>
                  <a:gd fmla="val 11111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g3f9b5de7d18_0_2192"/>
              <p:cNvSpPr txBox="1"/>
              <p:nvPr/>
            </p:nvSpPr>
            <p:spPr>
              <a:xfrm>
                <a:off x="5310188" y="2952750"/>
                <a:ext cx="2857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018">
                    <a:solidFill>
                      <a:srgbClr val="15335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Cicli residui stimati</a:t>
                </a:r>
                <a:endParaRPr b="1" sz="1018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it" sz="833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una sola stima disponibile: è una dimostrazione, non una misura</a:t>
                </a:r>
                <a:endParaRPr b="0" sz="833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" name="Google Shape;552;g3f9b5de7d18_0_2192"/>
          <p:cNvGrpSpPr/>
          <p:nvPr/>
        </p:nvGrpSpPr>
        <p:grpSpPr>
          <a:xfrm>
            <a:off x="333375" y="3762375"/>
            <a:ext cx="8477400" cy="809700"/>
            <a:chOff x="333375" y="3762375"/>
            <a:chExt cx="8477400" cy="809700"/>
          </a:xfrm>
        </p:grpSpPr>
        <p:sp>
          <p:nvSpPr>
            <p:cNvPr id="553" name="Google Shape;553;g3f9b5de7d18_0_2192"/>
            <p:cNvSpPr/>
            <p:nvPr/>
          </p:nvSpPr>
          <p:spPr>
            <a:xfrm>
              <a:off x="333375" y="3762375"/>
              <a:ext cx="8477400" cy="809700"/>
            </a:xfrm>
            <a:prstGeom prst="roundRect">
              <a:avLst>
                <a:gd fmla="val 7058" name="adj"/>
              </a:avLst>
            </a:prstGeom>
            <a:solidFill>
              <a:srgbClr val="1E293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g3f9b5de7d18_0_2192"/>
            <p:cNvSpPr txBox="1"/>
            <p:nvPr/>
          </p:nvSpPr>
          <p:spPr>
            <a:xfrm>
              <a:off x="523875" y="3762375"/>
              <a:ext cx="809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18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Il collo di bottiglia non è la previsione del SoH, </a:t>
              </a:r>
              <a:r>
                <a:rPr b="0" lang="it" sz="1018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 il modo in cui la si proietta nel futuro</a:t>
              </a:r>
              <a:endParaRPr b="1" sz="1018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5" name="Google Shape;555;g3f9b5de7d18_0_2192"/>
          <p:cNvSpPr txBox="1"/>
          <p:nvPr/>
        </p:nvSpPr>
        <p:spPr>
          <a:xfrm>
            <a:off x="357759" y="4792694"/>
            <a:ext cx="15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9b5de7d18_0_2192"/>
          <p:cNvSpPr txBox="1"/>
          <p:nvPr/>
        </p:nvSpPr>
        <p:spPr>
          <a:xfrm>
            <a:off x="3043333" y="4792694"/>
            <a:ext cx="30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9b5de7d18_0_25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2" name="Google Shape;562;g3f9b5de7d18_0_2535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f9b5de7d18_0_2535"/>
          <p:cNvSpPr txBox="1"/>
          <p:nvPr/>
        </p:nvSpPr>
        <p:spPr>
          <a:xfrm>
            <a:off x="1622755" y="762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9b5de7d18_0_2535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Risultati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9b5de7d18_0_2535"/>
          <p:cNvSpPr txBox="1"/>
          <p:nvPr/>
        </p:nvSpPr>
        <p:spPr>
          <a:xfrm>
            <a:off x="328613" y="7620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Stimare il SoH senza misurarlo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g3f9b5de7d18_0_2535"/>
          <p:cNvGrpSpPr/>
          <p:nvPr/>
        </p:nvGrpSpPr>
        <p:grpSpPr>
          <a:xfrm>
            <a:off x="333375" y="1123950"/>
            <a:ext cx="8477400" cy="285900"/>
            <a:chOff x="333375" y="1123950"/>
            <a:chExt cx="8477400" cy="285900"/>
          </a:xfrm>
        </p:grpSpPr>
        <p:sp>
          <p:nvSpPr>
            <p:cNvPr id="567" name="Google Shape;567;g3f9b5de7d18_0_2535"/>
            <p:cNvSpPr/>
            <p:nvPr/>
          </p:nvSpPr>
          <p:spPr>
            <a:xfrm>
              <a:off x="333375" y="1123950"/>
              <a:ext cx="8477400" cy="285900"/>
            </a:xfrm>
            <a:prstGeom prst="roundRect">
              <a:avLst>
                <a:gd fmla="val 13333" name="adj"/>
              </a:avLst>
            </a:prstGeom>
            <a:solidFill>
              <a:srgbClr val="F0F4F8"/>
            </a:solidFill>
            <a:ln cap="flat" cmpd="sng" w="9525">
              <a:solidFill>
                <a:srgbClr val="D2DF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g3f9b5de7d18_0_2535"/>
            <p:cNvSpPr/>
            <p:nvPr/>
          </p:nvSpPr>
          <p:spPr>
            <a:xfrm>
              <a:off x="461924" y="1233488"/>
              <a:ext cx="66600" cy="66600"/>
            </a:xfrm>
            <a:prstGeom prst="ellipse">
              <a:avLst/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g3f9b5de7d18_0_2535"/>
            <p:cNvSpPr txBox="1"/>
            <p:nvPr/>
          </p:nvSpPr>
          <p:spPr>
            <a:xfrm>
              <a:off x="628650" y="1123950"/>
              <a:ext cx="80487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Misurare la capacità richiede una scarica completa in condizioni controllate. </a:t>
              </a:r>
              <a:r>
                <a:rPr b="0" lang="it" sz="10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La ricarica invece si osserva sempre.</a:t>
              </a:r>
              <a:endParaRPr b="1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0" name="Google Shape;570;g3f9b5de7d18_0_2535"/>
          <p:cNvGrpSpPr/>
          <p:nvPr/>
        </p:nvGrpSpPr>
        <p:grpSpPr>
          <a:xfrm>
            <a:off x="333375" y="1485900"/>
            <a:ext cx="3905400" cy="3143400"/>
            <a:chOff x="333375" y="1485900"/>
            <a:chExt cx="3905400" cy="3143400"/>
          </a:xfrm>
        </p:grpSpPr>
        <p:sp>
          <p:nvSpPr>
            <p:cNvPr id="571" name="Google Shape;571;g3f9b5de7d18_0_2535"/>
            <p:cNvSpPr/>
            <p:nvPr/>
          </p:nvSpPr>
          <p:spPr>
            <a:xfrm>
              <a:off x="333375" y="1485900"/>
              <a:ext cx="39054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g3f9b5de7d18_0_2535"/>
            <p:cNvSpPr txBox="1"/>
            <p:nvPr/>
          </p:nvSpPr>
          <p:spPr>
            <a:xfrm>
              <a:off x="514350" y="1628775"/>
              <a:ext cx="3543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01. </a:t>
              </a: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Il compito onesto</a:t>
              </a:r>
              <a:endParaRPr b="1" sz="14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"Fuori dagli ingressi la capacità e il SoH dei cicli passati: su una cella in servizio non sono osservabili"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g3f9b5de7d18_0_2535"/>
            <p:cNvSpPr txBox="1"/>
            <p:nvPr/>
          </p:nvSpPr>
          <p:spPr>
            <a:xfrm>
              <a:off x="514350" y="2628900"/>
              <a:ext cx="3543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02. </a:t>
              </a: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Meno variabili, meglio</a:t>
              </a:r>
              <a:endParaRPr b="1" sz="14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"Otto indicatori di ricarica battono i diciassette di ricarica più scarica messi insieme"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g3f9b5de7d18_0_2535"/>
            <p:cNvSpPr txBox="1"/>
            <p:nvPr/>
          </p:nvSpPr>
          <p:spPr>
            <a:xfrm>
              <a:off x="514350" y="3629025"/>
              <a:ext cx="35433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00D2FF"/>
                  </a:solidFill>
                  <a:latin typeface="Inter"/>
                  <a:ea typeface="Inter"/>
                  <a:cs typeface="Inter"/>
                  <a:sym typeface="Inter"/>
                </a:rPr>
                <a:t>03. </a:t>
              </a:r>
              <a:r>
                <a:rPr b="1" lang="it" sz="1050">
                  <a:solidFill>
                    <a:srgbClr val="15335B"/>
                  </a:solidFill>
                  <a:latin typeface="Calibri"/>
                  <a:ea typeface="Calibri"/>
                  <a:cs typeface="Calibri"/>
                  <a:sym typeface="Calibri"/>
                </a:rPr>
                <a:t>Il segnale ha una firma fisica</a:t>
              </a:r>
              <a:endParaRPr b="1" sz="1400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"Il tempo di carica a corrente costante fra 3,8 e 4,1 volt correla 0,92 con il SoH: invecchiando la resistenza sale e quel tratto si accorcia"</a:t>
              </a:r>
              <a:endParaRPr b="0" sz="9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" name="Google Shape;575;g3f9b5de7d18_0_2535"/>
          <p:cNvGrpSpPr/>
          <p:nvPr/>
        </p:nvGrpSpPr>
        <p:grpSpPr>
          <a:xfrm>
            <a:off x="4429125" y="1485900"/>
            <a:ext cx="4381500" cy="3143400"/>
            <a:chOff x="4429125" y="1485900"/>
            <a:chExt cx="4381500" cy="3143400"/>
          </a:xfrm>
        </p:grpSpPr>
        <p:sp>
          <p:nvSpPr>
            <p:cNvPr id="576" name="Google Shape;576;g3f9b5de7d18_0_2535"/>
            <p:cNvSpPr/>
            <p:nvPr/>
          </p:nvSpPr>
          <p:spPr>
            <a:xfrm>
              <a:off x="4429125" y="1485900"/>
              <a:ext cx="43815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g3f9b5de7d18_0_2535"/>
            <p:cNvSpPr txBox="1"/>
            <p:nvPr/>
          </p:nvSpPr>
          <p:spPr>
            <a:xfrm>
              <a:off x="4610100" y="1657350"/>
              <a:ext cx="40197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riferimento: la media di addestramento</a:t>
              </a:r>
              <a:endParaRPr b="1" sz="950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g3f9b5de7d18_0_2535"/>
            <p:cNvSpPr/>
            <p:nvPr/>
          </p:nvSpPr>
          <p:spPr>
            <a:xfrm>
              <a:off x="4443413" y="2314575"/>
              <a:ext cx="4353000" cy="342900"/>
            </a:xfrm>
            <a:prstGeom prst="rect">
              <a:avLst/>
            </a:prstGeom>
            <a:solidFill>
              <a:srgbClr val="00D2FF">
                <a:alpha val="1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79" name="Google Shape;579;g3f9b5de7d18_0_2535"/>
            <p:cNvCxnSpPr/>
            <p:nvPr/>
          </p:nvCxnSpPr>
          <p:spPr>
            <a:xfrm rot="10800000">
              <a:off x="6619875" y="-304800"/>
              <a:ext cx="0" cy="438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g3f9b5de7d18_0_2535"/>
            <p:cNvCxnSpPr/>
            <p:nvPr/>
          </p:nvCxnSpPr>
          <p:spPr>
            <a:xfrm rot="10800000">
              <a:off x="6619875" y="38100"/>
              <a:ext cx="0" cy="438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g3f9b5de7d18_0_2535"/>
            <p:cNvCxnSpPr/>
            <p:nvPr/>
          </p:nvCxnSpPr>
          <p:spPr>
            <a:xfrm rot="10800000">
              <a:off x="6619875" y="381000"/>
              <a:ext cx="0" cy="438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g3f9b5de7d18_0_2535"/>
            <p:cNvCxnSpPr/>
            <p:nvPr/>
          </p:nvCxnSpPr>
          <p:spPr>
            <a:xfrm rot="10800000">
              <a:off x="6619875" y="723900"/>
              <a:ext cx="0" cy="438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3" name="Google Shape;583;g3f9b5de7d18_0_2535"/>
            <p:cNvCxnSpPr/>
            <p:nvPr/>
          </p:nvCxnSpPr>
          <p:spPr>
            <a:xfrm rot="10800000">
              <a:off x="6619875" y="1066800"/>
              <a:ext cx="0" cy="43815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4" name="Google Shape;584;g3f9b5de7d18_0_2535"/>
            <p:cNvSpPr txBox="1"/>
            <p:nvPr/>
          </p:nvSpPr>
          <p:spPr>
            <a:xfrm>
              <a:off x="4610100" y="1981200"/>
              <a:ext cx="1714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Variabili di ingresso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5" name="Google Shape;585;g3f9b5de7d18_0_2535"/>
            <p:cNvSpPr txBox="1"/>
            <p:nvPr/>
          </p:nvSpPr>
          <p:spPr>
            <a:xfrm>
              <a:off x="6419850" y="1981200"/>
              <a:ext cx="57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6" name="Google Shape;586;g3f9b5de7d18_0_2535"/>
            <p:cNvSpPr txBox="1"/>
            <p:nvPr/>
          </p:nvSpPr>
          <p:spPr>
            <a:xfrm>
              <a:off x="7086600" y="198120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SS dentro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7" name="Google Shape;587;g3f9b5de7d18_0_2535"/>
            <p:cNvSpPr txBox="1"/>
            <p:nvPr/>
          </p:nvSpPr>
          <p:spPr>
            <a:xfrm>
              <a:off x="7943850" y="1981200"/>
              <a:ext cx="76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SS fuori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8" name="Google Shape;588;g3f9b5de7d18_0_2535"/>
            <p:cNvSpPr txBox="1"/>
            <p:nvPr/>
          </p:nvSpPr>
          <p:spPr>
            <a:xfrm>
              <a:off x="4610100" y="23907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Solo ricarica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9" name="Google Shape;589;g3f9b5de7d18_0_2535"/>
            <p:cNvSpPr txBox="1"/>
            <p:nvPr/>
          </p:nvSpPr>
          <p:spPr>
            <a:xfrm>
              <a:off x="6419850" y="239077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0" name="Google Shape;590;g3f9b5de7d18_0_2535"/>
            <p:cNvSpPr txBox="1"/>
            <p:nvPr/>
          </p:nvSpPr>
          <p:spPr>
            <a:xfrm>
              <a:off x="7086600" y="23907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0,84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1" name="Google Shape;591;g3f9b5de7d18_0_2535"/>
            <p:cNvSpPr txBox="1"/>
            <p:nvPr/>
          </p:nvSpPr>
          <p:spPr>
            <a:xfrm>
              <a:off x="7943850" y="23907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15335B"/>
                  </a:solidFill>
                  <a:latin typeface="Inter"/>
                  <a:ea typeface="Inter"/>
                  <a:cs typeface="Inter"/>
                  <a:sym typeface="Inter"/>
                </a:rPr>
                <a:t>0,87</a:t>
              </a:r>
              <a:endParaRPr b="1" sz="900">
                <a:solidFill>
                  <a:srgbClr val="15335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2" name="Google Shape;592;g3f9b5de7d18_0_2535"/>
            <p:cNvSpPr txBox="1"/>
            <p:nvPr/>
          </p:nvSpPr>
          <p:spPr>
            <a:xfrm>
              <a:off x="4610100" y="27336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Solo scarica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3" name="Google Shape;593;g3f9b5de7d18_0_2535"/>
            <p:cNvSpPr txBox="1"/>
            <p:nvPr/>
          </p:nvSpPr>
          <p:spPr>
            <a:xfrm>
              <a:off x="6419850" y="273367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9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4" name="Google Shape;594;g3f9b5de7d18_0_2535"/>
            <p:cNvSpPr txBox="1"/>
            <p:nvPr/>
          </p:nvSpPr>
          <p:spPr>
            <a:xfrm>
              <a:off x="7086600" y="27336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0,75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5" name="Google Shape;595;g3f9b5de7d18_0_2535"/>
            <p:cNvSpPr txBox="1"/>
            <p:nvPr/>
          </p:nvSpPr>
          <p:spPr>
            <a:xfrm>
              <a:off x="7943850" y="27336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0,87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6" name="Google Shape;596;g3f9b5de7d18_0_2535"/>
            <p:cNvSpPr txBox="1"/>
            <p:nvPr/>
          </p:nvSpPr>
          <p:spPr>
            <a:xfrm>
              <a:off x="4610100" y="30765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Ricarica + scarica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7" name="Google Shape;597;g3f9b5de7d18_0_2535"/>
            <p:cNvSpPr txBox="1"/>
            <p:nvPr/>
          </p:nvSpPr>
          <p:spPr>
            <a:xfrm>
              <a:off x="6419850" y="3076575"/>
              <a:ext cx="571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17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8" name="Google Shape;598;g3f9b5de7d18_0_2535"/>
            <p:cNvSpPr txBox="1"/>
            <p:nvPr/>
          </p:nvSpPr>
          <p:spPr>
            <a:xfrm>
              <a:off x="7086600" y="30765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0,34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9" name="Google Shape;599;g3f9b5de7d18_0_2535"/>
            <p:cNvSpPr txBox="1"/>
            <p:nvPr/>
          </p:nvSpPr>
          <p:spPr>
            <a:xfrm>
              <a:off x="7943850" y="3076575"/>
              <a:ext cx="76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0,27</a:t>
              </a:r>
              <a:endParaRPr b="0" sz="9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00" name="Google Shape;600;g3f9b5de7d18_0_2535"/>
          <p:cNvSpPr txBox="1"/>
          <p:nvPr/>
        </p:nvSpPr>
        <p:spPr>
          <a:xfrm>
            <a:off x="357759" y="4792694"/>
            <a:ext cx="150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g3f9b5de7d18_0_2535"/>
          <p:cNvSpPr txBox="1"/>
          <p:nvPr/>
        </p:nvSpPr>
        <p:spPr>
          <a:xfrm>
            <a:off x="3043333" y="4792694"/>
            <a:ext cx="30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6"/>
          <p:cNvSpPr txBox="1"/>
          <p:nvPr>
            <p:ph type="title"/>
          </p:nvPr>
        </p:nvSpPr>
        <p:spPr>
          <a:xfrm>
            <a:off x="510450" y="2220750"/>
            <a:ext cx="7939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/>
              <a:t>Conclusioni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9b5de7d18_0_18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g3f9b5de7d18_0_1822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g3f9b5de7d18_0_1822"/>
          <p:cNvSpPr txBox="1"/>
          <p:nvPr/>
        </p:nvSpPr>
        <p:spPr>
          <a:xfrm>
            <a:off x="1622755" y="381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g3f9b5de7d18_0_1822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Conclusioni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f9b5de7d18_0_1822"/>
          <p:cNvSpPr txBox="1"/>
          <p:nvPr/>
        </p:nvSpPr>
        <p:spPr>
          <a:xfrm>
            <a:off x="328613" y="74295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20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Che cosa il lavoro stabilisce</a:t>
            </a:r>
            <a:endParaRPr b="1" sz="220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6" name="Google Shape;616;g3f9b5de7d18_0_1822"/>
          <p:cNvGrpSpPr/>
          <p:nvPr/>
        </p:nvGrpSpPr>
        <p:grpSpPr>
          <a:xfrm>
            <a:off x="428625" y="1190625"/>
            <a:ext cx="2628900" cy="2105100"/>
            <a:chOff x="428625" y="1190625"/>
            <a:chExt cx="2628900" cy="2105100"/>
          </a:xfrm>
        </p:grpSpPr>
        <p:sp>
          <p:nvSpPr>
            <p:cNvPr id="617" name="Google Shape;617;g3f9b5de7d18_0_1822"/>
            <p:cNvSpPr/>
            <p:nvPr/>
          </p:nvSpPr>
          <p:spPr>
            <a:xfrm>
              <a:off x="428625" y="1190625"/>
              <a:ext cx="2628900" cy="324000"/>
            </a:xfrm>
            <a:prstGeom prst="roundRect">
              <a:avLst>
                <a:gd fmla="val 17647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g3f9b5de7d18_0_1822"/>
            <p:cNvSpPr/>
            <p:nvPr/>
          </p:nvSpPr>
          <p:spPr>
            <a:xfrm>
              <a:off x="428625" y="1381125"/>
              <a:ext cx="2628900" cy="133500"/>
            </a:xfrm>
            <a:prstGeom prst="rect">
              <a:avLst/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g3f9b5de7d18_0_1822"/>
            <p:cNvSpPr/>
            <p:nvPr/>
          </p:nvSpPr>
          <p:spPr>
            <a:xfrm>
              <a:off x="428625" y="1190625"/>
              <a:ext cx="2628900" cy="2105100"/>
            </a:xfrm>
            <a:prstGeom prst="roundRect">
              <a:avLst>
                <a:gd fmla="val 2714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g3f9b5de7d18_0_1822"/>
            <p:cNvSpPr txBox="1"/>
            <p:nvPr/>
          </p:nvSpPr>
          <p:spPr>
            <a:xfrm>
              <a:off x="542925" y="1190625"/>
              <a:ext cx="2400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D1 — Confronto modelli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g3f9b5de7d18_0_1822"/>
            <p:cNvSpPr txBox="1"/>
            <p:nvPr/>
          </p:nvSpPr>
          <p:spPr>
            <a:xfrm>
              <a:off x="542925" y="1619250"/>
              <a:ext cx="2400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Nessuna architettura supera la </a:t>
              </a:r>
              <a:r>
                <a:rPr b="1" lang="it" sz="10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persistenza a un ciclo</a:t>
              </a: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— 0,027 contro 0,011 nel caso migliore — e le tre ricorrenti sono indistinguibili fra loro.</a:t>
              </a:r>
              <a:endParaRPr b="0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Nemmeno la baseline a retta la supera: il bersaglio è dominato dal </a:t>
              </a:r>
              <a:r>
                <a:rPr b="1" lang="it" sz="10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rumore di misura</a:t>
              </a: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2" name="Google Shape;622;g3f9b5de7d18_0_1822"/>
          <p:cNvGrpSpPr/>
          <p:nvPr/>
        </p:nvGrpSpPr>
        <p:grpSpPr>
          <a:xfrm>
            <a:off x="3257550" y="1190625"/>
            <a:ext cx="2628900" cy="2105100"/>
            <a:chOff x="3257550" y="1190625"/>
            <a:chExt cx="2628900" cy="2105100"/>
          </a:xfrm>
        </p:grpSpPr>
        <p:sp>
          <p:nvSpPr>
            <p:cNvPr id="623" name="Google Shape;623;g3f9b5de7d18_0_1822"/>
            <p:cNvSpPr/>
            <p:nvPr/>
          </p:nvSpPr>
          <p:spPr>
            <a:xfrm>
              <a:off x="3257550" y="1190625"/>
              <a:ext cx="2628900" cy="324000"/>
            </a:xfrm>
            <a:prstGeom prst="roundRect">
              <a:avLst>
                <a:gd fmla="val 17647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g3f9b5de7d18_0_1822"/>
            <p:cNvSpPr/>
            <p:nvPr/>
          </p:nvSpPr>
          <p:spPr>
            <a:xfrm>
              <a:off x="3257550" y="1381125"/>
              <a:ext cx="2628900" cy="133500"/>
            </a:xfrm>
            <a:prstGeom prst="rect">
              <a:avLst/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g3f9b5de7d18_0_1822"/>
            <p:cNvSpPr/>
            <p:nvPr/>
          </p:nvSpPr>
          <p:spPr>
            <a:xfrm>
              <a:off x="3257550" y="1190625"/>
              <a:ext cx="2628900" cy="2105100"/>
            </a:xfrm>
            <a:prstGeom prst="roundRect">
              <a:avLst>
                <a:gd fmla="val 2714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g3f9b5de7d18_0_1822"/>
            <p:cNvSpPr txBox="1"/>
            <p:nvPr/>
          </p:nvSpPr>
          <p:spPr>
            <a:xfrm>
              <a:off x="3371850" y="1190625"/>
              <a:ext cx="2400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D2 — Profili operativi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g3f9b5de7d18_0_1822"/>
            <p:cNvSpPr txBox="1"/>
            <p:nvPr/>
          </p:nvSpPr>
          <p:spPr>
            <a:xfrm>
              <a:off x="3371850" y="1619250"/>
              <a:ext cx="2400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Nessuna variabile supera il </a:t>
              </a:r>
              <a:r>
                <a:rPr b="1" lang="it" sz="10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doppio test di direzione</a:t>
              </a: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: tutte risultano conseguenza del degrado o informazione già contenuta nello stato.</a:t>
              </a:r>
              <a:endParaRPr b="0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Fra i protocolli, il </a:t>
              </a:r>
              <a:r>
                <a:rPr b="1" lang="it" sz="10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freddo estremo</a:t>
              </a: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degrada quasi quattro volte più in fretta, ma su due soli blocchi.</a:t>
              </a:r>
              <a:endParaRPr b="0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8" name="Google Shape;628;g3f9b5de7d18_0_1822"/>
          <p:cNvGrpSpPr/>
          <p:nvPr/>
        </p:nvGrpSpPr>
        <p:grpSpPr>
          <a:xfrm>
            <a:off x="6086475" y="1190625"/>
            <a:ext cx="2628900" cy="2105100"/>
            <a:chOff x="6086475" y="1190625"/>
            <a:chExt cx="2628900" cy="2105100"/>
          </a:xfrm>
        </p:grpSpPr>
        <p:sp>
          <p:nvSpPr>
            <p:cNvPr id="629" name="Google Shape;629;g3f9b5de7d18_0_1822"/>
            <p:cNvSpPr/>
            <p:nvPr/>
          </p:nvSpPr>
          <p:spPr>
            <a:xfrm>
              <a:off x="6086475" y="1190625"/>
              <a:ext cx="2628900" cy="324000"/>
            </a:xfrm>
            <a:prstGeom prst="roundRect">
              <a:avLst>
                <a:gd fmla="val 17647" name="adj"/>
              </a:avLst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g3f9b5de7d18_0_1822"/>
            <p:cNvSpPr/>
            <p:nvPr/>
          </p:nvSpPr>
          <p:spPr>
            <a:xfrm>
              <a:off x="6086475" y="1381125"/>
              <a:ext cx="2628900" cy="133500"/>
            </a:xfrm>
            <a:prstGeom prst="rect">
              <a:avLst/>
            </a:prstGeom>
            <a:solidFill>
              <a:srgbClr val="1533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g3f9b5de7d18_0_1822"/>
            <p:cNvSpPr/>
            <p:nvPr/>
          </p:nvSpPr>
          <p:spPr>
            <a:xfrm>
              <a:off x="6086475" y="1190625"/>
              <a:ext cx="2628900" cy="2105100"/>
            </a:xfrm>
            <a:prstGeom prst="roundRect">
              <a:avLst>
                <a:gd fmla="val 2714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g3f9b5de7d18_0_1822"/>
            <p:cNvSpPr txBox="1"/>
            <p:nvPr/>
          </p:nvSpPr>
          <p:spPr>
            <a:xfrm>
              <a:off x="6200775" y="1190625"/>
              <a:ext cx="2400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D3 — Robustezza ID/OOD</a:t>
              </a:r>
              <a:endParaRPr b="1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g3f9b5de7d18_0_1822"/>
            <p:cNvSpPr txBox="1"/>
            <p:nvPr/>
          </p:nvSpPr>
          <p:spPr>
            <a:xfrm>
              <a:off x="6200775" y="1619250"/>
              <a:ext cx="2400300" cy="157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Letta in skill score, la </a:t>
              </a:r>
              <a:r>
                <a:rPr b="1" lang="it" sz="10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perdita fuori distribuzione</a:t>
              </a: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cresce con la capacità del modello: il </a:t>
              </a:r>
              <a:r>
                <a:rPr b="1" lang="it" sz="100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SimpleRNN</a:t>
              </a:r>
              <a:r>
                <a:rPr b="0" lang="it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resta sopra la baseline, l'MLP crolla da −44,8 a −132,9.</a:t>
              </a:r>
              <a:endParaRPr b="0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4" name="Google Shape;634;g3f9b5de7d18_0_1822"/>
          <p:cNvGrpSpPr/>
          <p:nvPr/>
        </p:nvGrpSpPr>
        <p:grpSpPr>
          <a:xfrm>
            <a:off x="428625" y="3467100"/>
            <a:ext cx="8286900" cy="733500"/>
            <a:chOff x="428625" y="3467100"/>
            <a:chExt cx="8286900" cy="733500"/>
          </a:xfrm>
        </p:grpSpPr>
        <p:sp>
          <p:nvSpPr>
            <p:cNvPr id="635" name="Google Shape;635;g3f9b5de7d18_0_1822"/>
            <p:cNvSpPr/>
            <p:nvPr/>
          </p:nvSpPr>
          <p:spPr>
            <a:xfrm>
              <a:off x="428625" y="3467100"/>
              <a:ext cx="8286900" cy="733500"/>
            </a:xfrm>
            <a:prstGeom prst="roundRect">
              <a:avLst>
                <a:gd fmla="val 7792" name="adj"/>
              </a:avLst>
            </a:prstGeom>
            <a:solidFill>
              <a:srgbClr val="15335B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g3f9b5de7d18_0_1822"/>
            <p:cNvSpPr txBox="1"/>
            <p:nvPr/>
          </p:nvSpPr>
          <p:spPr>
            <a:xfrm>
              <a:off x="619125" y="3476625"/>
              <a:ext cx="7905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Il contributo non è un modello che vince, ma una misura di quando il deep learning serve:</a:t>
              </a:r>
              <a:r>
                <a:rPr b="0" lang="it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non a un ciclo, sì oltre i dieci cicli di orizzonte, sì quando la capacità non è misurabile</a:t>
              </a:r>
              <a:endParaRPr b="1" sz="11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7" name="Google Shape;637;g3f9b5de7d18_0_1822"/>
          <p:cNvSpPr txBox="1"/>
          <p:nvPr/>
        </p:nvSpPr>
        <p:spPr>
          <a:xfrm>
            <a:off x="357800" y="4792723"/>
            <a:ext cx="150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g3f9b5de7d18_0_1822"/>
          <p:cNvSpPr txBox="1"/>
          <p:nvPr/>
        </p:nvSpPr>
        <p:spPr>
          <a:xfrm>
            <a:off x="3043352" y="4792723"/>
            <a:ext cx="305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9b5de7d18_0_270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4" name="Google Shape;644;g3f9b5de7d18_0_2707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3f9b5de7d18_0_2707"/>
          <p:cNvSpPr txBox="1"/>
          <p:nvPr/>
        </p:nvSpPr>
        <p:spPr>
          <a:xfrm>
            <a:off x="1622755" y="381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7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sz="7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g3f9b5de7d18_0_2707"/>
          <p:cNvSpPr txBox="1"/>
          <p:nvPr/>
        </p:nvSpPr>
        <p:spPr>
          <a:xfrm>
            <a:off x="328613" y="495300"/>
            <a:ext cx="4762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2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&gt; Conclusioni</a:t>
            </a:r>
            <a:endParaRPr b="0" sz="12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g3f9b5de7d18_0_2707"/>
          <p:cNvSpPr txBox="1"/>
          <p:nvPr/>
        </p:nvSpPr>
        <p:spPr>
          <a:xfrm>
            <a:off x="328613" y="704850"/>
            <a:ext cx="76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7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Limiti e direzioni</a:t>
            </a:r>
            <a:endParaRPr b="1" sz="187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g3f9b5de7d18_0_2707"/>
          <p:cNvSpPr/>
          <p:nvPr/>
        </p:nvSpPr>
        <p:spPr>
          <a:xfrm>
            <a:off x="333375" y="1066800"/>
            <a:ext cx="8477400" cy="285900"/>
          </a:xfrm>
          <a:prstGeom prst="roundRect">
            <a:avLst>
              <a:gd fmla="val 13326" name="adj"/>
            </a:avLst>
          </a:prstGeom>
          <a:solidFill>
            <a:srgbClr val="F0F4F8"/>
          </a:solidFill>
          <a:ln cap="flat" cmpd="sng" w="9525">
            <a:solidFill>
              <a:srgbClr val="D2DF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f9b5de7d18_0_2707"/>
          <p:cNvSpPr/>
          <p:nvPr/>
        </p:nvSpPr>
        <p:spPr>
          <a:xfrm>
            <a:off x="461887" y="1176414"/>
            <a:ext cx="66600" cy="66600"/>
          </a:xfrm>
          <a:prstGeom prst="ellipse">
            <a:avLst/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9b5de7d18_0_2707"/>
          <p:cNvSpPr txBox="1"/>
          <p:nvPr/>
        </p:nvSpPr>
        <p:spPr>
          <a:xfrm>
            <a:off x="628650" y="1066800"/>
            <a:ext cx="8048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Ogni limite del lavoro è stato misurato, e ognuno indica la propria direzione di uscita</a:t>
            </a:r>
            <a:endParaRPr b="1" sz="1050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3f9b5de7d18_0_2707"/>
          <p:cNvSpPr/>
          <p:nvPr/>
        </p:nvSpPr>
        <p:spPr>
          <a:xfrm>
            <a:off x="333375" y="1447800"/>
            <a:ext cx="8477400" cy="285900"/>
          </a:xfrm>
          <a:prstGeom prst="roundRect">
            <a:avLst>
              <a:gd fmla="val 13333" name="adj"/>
            </a:avLst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f9b5de7d18_0_2707"/>
          <p:cNvSpPr txBox="1"/>
          <p:nvPr/>
        </p:nvSpPr>
        <p:spPr>
          <a:xfrm>
            <a:off x="428625" y="1447800"/>
            <a:ext cx="2571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Limite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g3f9b5de7d18_0_2707"/>
          <p:cNvSpPr txBox="1"/>
          <p:nvPr/>
        </p:nvSpPr>
        <p:spPr>
          <a:xfrm>
            <a:off x="3143250" y="1447800"/>
            <a:ext cx="2667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 cosa lo misura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g3f9b5de7d18_0_2707"/>
          <p:cNvSpPr txBox="1"/>
          <p:nvPr/>
        </p:nvSpPr>
        <p:spPr>
          <a:xfrm>
            <a:off x="5953125" y="1447800"/>
            <a:ext cx="2762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Direzione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5" name="Google Shape;655;g3f9b5de7d18_0_2707"/>
          <p:cNvGrpSpPr/>
          <p:nvPr/>
        </p:nvGrpSpPr>
        <p:grpSpPr>
          <a:xfrm>
            <a:off x="333375" y="1771650"/>
            <a:ext cx="8477400" cy="705000"/>
            <a:chOff x="333375" y="1771650"/>
            <a:chExt cx="8477400" cy="705000"/>
          </a:xfrm>
        </p:grpSpPr>
        <p:sp>
          <p:nvSpPr>
            <p:cNvPr id="656" name="Google Shape;656;g3f9b5de7d18_0_2707"/>
            <p:cNvSpPr/>
            <p:nvPr/>
          </p:nvSpPr>
          <p:spPr>
            <a:xfrm>
              <a:off x="333375" y="1771650"/>
              <a:ext cx="8477400" cy="705000"/>
            </a:xfrm>
            <a:prstGeom prst="roundRect">
              <a:avLst>
                <a:gd fmla="val 54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g3f9b5de7d18_0_2707"/>
            <p:cNvSpPr txBox="1"/>
            <p:nvPr/>
          </p:nvSpPr>
          <p:spPr>
            <a:xfrm>
              <a:off x="428625" y="1809750"/>
              <a:ext cx="2571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Pochi dati, e da due soli blocchi</a:t>
              </a:r>
              <a:endParaRPr b="1" sz="950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g3f9b5de7d18_0_2707"/>
            <p:cNvSpPr txBox="1"/>
            <p:nvPr/>
          </p:nvSpPr>
          <p:spPr>
            <a:xfrm>
              <a:off x="3143250" y="1809750"/>
              <a:ext cx="2667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316 finestre di addestramento; le ripetizioni si disperdono su un intervallo ampio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g3f9b5de7d18_0_2707"/>
            <p:cNvSpPr txBox="1"/>
            <p:nvPr/>
          </p:nvSpPr>
          <p:spPr>
            <a:xfrm>
              <a:off x="5953125" y="1809750"/>
              <a:ext cx="2762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Più celle dello stesso protocollo: da 2 a 3 blocchi l'errore quasi si dimezza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0" name="Google Shape;660;g3f9b5de7d18_0_2707"/>
          <p:cNvGrpSpPr/>
          <p:nvPr/>
        </p:nvGrpSpPr>
        <p:grpSpPr>
          <a:xfrm>
            <a:off x="333375" y="2514600"/>
            <a:ext cx="8477400" cy="705000"/>
            <a:chOff x="333375" y="2514600"/>
            <a:chExt cx="8477400" cy="705000"/>
          </a:xfrm>
        </p:grpSpPr>
        <p:sp>
          <p:nvSpPr>
            <p:cNvPr id="661" name="Google Shape;661;g3f9b5de7d18_0_2707"/>
            <p:cNvSpPr/>
            <p:nvPr/>
          </p:nvSpPr>
          <p:spPr>
            <a:xfrm>
              <a:off x="333375" y="2514600"/>
              <a:ext cx="8477400" cy="705000"/>
            </a:xfrm>
            <a:prstGeom prst="roundRect">
              <a:avLst>
                <a:gd fmla="val 54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g3f9b5de7d18_0_2707"/>
            <p:cNvSpPr txBox="1"/>
            <p:nvPr/>
          </p:nvSpPr>
          <p:spPr>
            <a:xfrm>
              <a:off x="428625" y="2552700"/>
              <a:ext cx="2571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Compito a un passo</a:t>
              </a:r>
              <a:endParaRPr b="1" sz="950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g3f9b5de7d18_0_2707"/>
            <p:cNvSpPr txBox="1"/>
            <p:nvPr/>
          </p:nvSpPr>
          <p:spPr>
            <a:xfrm>
              <a:off x="3143250" y="2552700"/>
              <a:ext cx="2667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Rapporto segnale/rumore 0,22: il bersaglio è più piccolo del rumore di misura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g3f9b5de7d18_0_2707"/>
            <p:cNvSpPr txBox="1"/>
            <p:nvPr/>
          </p:nvSpPr>
          <p:spPr>
            <a:xfrm>
              <a:off x="5953125" y="2552700"/>
              <a:ext cx="2762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Orizzonte lungo come compito principale: il pareggio arriva a 10 cicli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5" name="Google Shape;665;g3f9b5de7d18_0_2707"/>
          <p:cNvGrpSpPr/>
          <p:nvPr/>
        </p:nvGrpSpPr>
        <p:grpSpPr>
          <a:xfrm>
            <a:off x="333375" y="3257550"/>
            <a:ext cx="8477400" cy="705000"/>
            <a:chOff x="333375" y="3257550"/>
            <a:chExt cx="8477400" cy="705000"/>
          </a:xfrm>
        </p:grpSpPr>
        <p:sp>
          <p:nvSpPr>
            <p:cNvPr id="666" name="Google Shape;666;g3f9b5de7d18_0_2707"/>
            <p:cNvSpPr/>
            <p:nvPr/>
          </p:nvSpPr>
          <p:spPr>
            <a:xfrm>
              <a:off x="333375" y="3257550"/>
              <a:ext cx="8477400" cy="705000"/>
            </a:xfrm>
            <a:prstGeom prst="roundRect">
              <a:avLst>
                <a:gd fmla="val 54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g3f9b5de7d18_0_2707"/>
            <p:cNvSpPr txBox="1"/>
            <p:nvPr/>
          </p:nvSpPr>
          <p:spPr>
            <a:xfrm>
              <a:off x="428625" y="3295650"/>
              <a:ext cx="2571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Temperatura e corrente confuse</a:t>
              </a:r>
              <a:endParaRPr b="1" sz="950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g3f9b5de7d18_0_2707"/>
            <p:cNvSpPr txBox="1"/>
            <p:nvPr/>
          </p:nvSpPr>
          <p:spPr>
            <a:xfrm>
              <a:off x="3143250" y="3295650"/>
              <a:ext cx="2667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Nessun blocco caldo a corrente bassa, nessuno freddo a corrente alta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g3f9b5de7d18_0_2707"/>
            <p:cNvSpPr txBox="1"/>
            <p:nvPr/>
          </p:nvSpPr>
          <p:spPr>
            <a:xfrm>
              <a:off x="5953125" y="3295650"/>
              <a:ext cx="2762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D2 e D3 misurano il protocollo nel suo insieme; separarli richiede un dataset con i fattori incrociati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g3f9b5de7d18_0_2707"/>
          <p:cNvGrpSpPr/>
          <p:nvPr/>
        </p:nvGrpSpPr>
        <p:grpSpPr>
          <a:xfrm>
            <a:off x="333375" y="4000500"/>
            <a:ext cx="8477400" cy="705000"/>
            <a:chOff x="333375" y="4000500"/>
            <a:chExt cx="8477400" cy="705000"/>
          </a:xfrm>
        </p:grpSpPr>
        <p:sp>
          <p:nvSpPr>
            <p:cNvPr id="671" name="Google Shape;671;g3f9b5de7d18_0_2707"/>
            <p:cNvSpPr/>
            <p:nvPr/>
          </p:nvSpPr>
          <p:spPr>
            <a:xfrm>
              <a:off x="333375" y="4000500"/>
              <a:ext cx="8477400" cy="705000"/>
            </a:xfrm>
            <a:prstGeom prst="roundRect">
              <a:avLst>
                <a:gd fmla="val 540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g3f9b5de7d18_0_2707"/>
            <p:cNvSpPr txBox="1"/>
            <p:nvPr/>
          </p:nvSpPr>
          <p:spPr>
            <a:xfrm>
              <a:off x="428625" y="4038600"/>
              <a:ext cx="25719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0A2C2"/>
                  </a:solidFill>
                  <a:latin typeface="Calibri"/>
                  <a:ea typeface="Calibri"/>
                  <a:cs typeface="Calibri"/>
                  <a:sym typeface="Calibri"/>
                </a:rPr>
                <a:t>La capacità va misurata</a:t>
              </a:r>
              <a:endParaRPr b="1" sz="950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g3f9b5de7d18_0_2707"/>
            <p:cNvSpPr txBox="1"/>
            <p:nvPr/>
          </p:nvSpPr>
          <p:spPr>
            <a:xfrm>
              <a:off x="3143250" y="4038600"/>
              <a:ext cx="26670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Serve una scarica completa in condizioni controllate: in servizio non è possibile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g3f9b5de7d18_0_2707"/>
            <p:cNvSpPr txBox="1"/>
            <p:nvPr/>
          </p:nvSpPr>
          <p:spPr>
            <a:xfrm>
              <a:off x="5953125" y="4038600"/>
              <a:ext cx="2762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Stima dalla sola ricarica tramite indicatori fisici, come stabilito nel capitolo sui risultati</a:t>
              </a:r>
              <a:endParaRPr b="0" sz="9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5" name="Google Shape;675;g3f9b5de7d18_0_2707"/>
          <p:cNvSpPr txBox="1"/>
          <p:nvPr/>
        </p:nvSpPr>
        <p:spPr>
          <a:xfrm>
            <a:off x="357800" y="4792723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g3f9b5de7d18_0_2707"/>
          <p:cNvSpPr txBox="1"/>
          <p:nvPr/>
        </p:nvSpPr>
        <p:spPr>
          <a:xfrm>
            <a:off x="3043352" y="4792723"/>
            <a:ext cx="30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800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sz="800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2" name="Google Shape;6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801" y="25875"/>
            <a:ext cx="1231500" cy="4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9"/>
          <p:cNvSpPr txBox="1"/>
          <p:nvPr/>
        </p:nvSpPr>
        <p:spPr>
          <a:xfrm>
            <a:off x="1622755" y="38100"/>
            <a:ext cx="248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Dipartimento di Matematica e Informatica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Facoltà di Scienze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t" sz="7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Corso di Laurea in Informatica Applicata e Data Analytics</a:t>
            </a:r>
            <a:endParaRPr b="0" i="0" sz="7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19"/>
          <p:cNvCxnSpPr/>
          <p:nvPr/>
        </p:nvCxnSpPr>
        <p:spPr>
          <a:xfrm>
            <a:off x="333375" y="1238250"/>
            <a:ext cx="84774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15335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19"/>
          <p:cNvSpPr txBox="1"/>
          <p:nvPr/>
        </p:nvSpPr>
        <p:spPr>
          <a:xfrm>
            <a:off x="333375" y="1524000"/>
            <a:ext cx="847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5335B"/>
                </a:solidFill>
                <a:latin typeface="Calibri"/>
                <a:ea typeface="Calibri"/>
                <a:cs typeface="Calibri"/>
                <a:sym typeface="Calibri"/>
              </a:rPr>
              <a:t>Grazie per l'attenzione</a:t>
            </a:r>
            <a:endParaRPr b="1" i="0" sz="3600" u="none" cap="none" strike="noStrike">
              <a:solidFill>
                <a:srgbClr val="1533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9"/>
          <p:cNvSpPr txBox="1"/>
          <p:nvPr/>
        </p:nvSpPr>
        <p:spPr>
          <a:xfrm>
            <a:off x="333375" y="2238375"/>
            <a:ext cx="8477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A2C2"/>
                </a:solidFill>
                <a:latin typeface="Calibri"/>
                <a:ea typeface="Calibri"/>
                <a:cs typeface="Calibri"/>
                <a:sym typeface="Calibri"/>
              </a:rPr>
              <a:t>SoH Neural Tracker</a:t>
            </a:r>
            <a:endParaRPr b="0" i="0" sz="1800" u="none" cap="none" strike="noStrike">
              <a:solidFill>
                <a:srgbClr val="00A2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9"/>
          <p:cNvSpPr txBox="1"/>
          <p:nvPr/>
        </p:nvSpPr>
        <p:spPr>
          <a:xfrm>
            <a:off x="333375" y="2667000"/>
            <a:ext cx="847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Stima dello State of Health di batterie Li-ion tramite Deep Learning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3619500" y="3429000"/>
            <a:ext cx="1905000" cy="381000"/>
          </a:xfrm>
          <a:prstGeom prst="roundRect">
            <a:avLst>
              <a:gd fmla="val 15000" name="adj"/>
            </a:avLst>
          </a:prstGeom>
          <a:solidFill>
            <a:srgbClr val="1533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 txBox="1"/>
          <p:nvPr/>
        </p:nvSpPr>
        <p:spPr>
          <a:xfrm>
            <a:off x="3619500" y="3429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t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Michele Sciarra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t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Matr. 60/79/00289</a:t>
            </a:r>
            <a:endParaRPr b="0" i="0" sz="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4381500" y="4048125"/>
            <a:ext cx="381000" cy="38100"/>
          </a:xfrm>
          <a:prstGeom prst="roundRect">
            <a:avLst>
              <a:gd fmla="val 50000" name="adj"/>
            </a:avLst>
          </a:prstGeom>
          <a:solidFill>
            <a:srgbClr val="00D2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19"/>
          <p:cNvCxnSpPr/>
          <p:nvPr/>
        </p:nvCxnSpPr>
        <p:spPr>
          <a:xfrm>
            <a:off x="333375" y="4572000"/>
            <a:ext cx="84774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p19"/>
          <p:cNvSpPr txBox="1"/>
          <p:nvPr/>
        </p:nvSpPr>
        <p:spPr>
          <a:xfrm>
            <a:off x="357800" y="47625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SC/0081 Deep Learning</a:t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9"/>
          <p:cNvSpPr txBox="1"/>
          <p:nvPr/>
        </p:nvSpPr>
        <p:spPr>
          <a:xfrm>
            <a:off x="3043352" y="4762500"/>
            <a:ext cx="305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t" sz="800" u="none" cap="none" strike="noStrike">
                <a:solidFill>
                  <a:srgbClr val="2D3D6A"/>
                </a:solidFill>
                <a:latin typeface="Calibri"/>
                <a:ea typeface="Calibri"/>
                <a:cs typeface="Calibri"/>
                <a:sym typeface="Calibri"/>
              </a:rPr>
              <a:t>Progetto Sperimentale di Fine Corso</a:t>
            </a:r>
            <a:endParaRPr b="0" i="0" sz="800" u="none" cap="none" strike="noStrike">
              <a:solidFill>
                <a:srgbClr val="2D3D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